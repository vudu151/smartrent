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DERN_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SMARTRENT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0" y="228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mềm Quản lý Nhà trọ &amp; Chung cư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868680"/>
            <a:ext cx="9144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7955280"/>
            <a:ext cx="91440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7955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môn học: Nhập môn Công nghệ Phần mềm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79552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AST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0"/>
            <a:ext cx="914400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6858000" y="771525"/>
            <a:ext cx="5486400" cy="5486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7315200" y="1028700"/>
            <a:ext cx="5486400" cy="5486400"/>
          </a:xfrm>
          <a:prstGeom prst="rect">
            <a:avLst/>
          </a:prstGeom>
          <a:solidFill>
            <a:srgbClr val="0F172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79552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QUẢN LÝ NHÀ TRỌ &amp; CHUNG CƯ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SMARTRENT</a:t>
            </a:r>
            <a:endParaRPr lang="en-US" sz="6200" dirty="0"/>
          </a:p>
        </p:txBody>
      </p:sp>
      <p:sp>
        <p:nvSpPr>
          <p:cNvPr id="4" name="Shape 2"/>
          <p:cNvSpPr/>
          <p:nvPr/>
        </p:nvSpPr>
        <p:spPr>
          <a:xfrm>
            <a:off x="457200" y="4389120"/>
            <a:ext cx="18288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Trình bày: Vũ Xuân Dự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5303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tài: Báo cáo Nhập môn CNPM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Đặt vấn đề &amp; Mục tiêu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2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trạng quản lý thủ công:</a:t>
            </a:r>
            <a:endParaRPr lang="en-US" sz="2200" dirty="0"/>
          </a:p>
          <a:p>
            <a:pPr lvl="1" marL="685800" indent="-342900">
              <a:lnSpc>
                <a:spcPts val="3800"/>
              </a:lnSpc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Chủ yếu dùng sổ sách hoặc Excel, dẫn đến dễ mất dữ liệu và sai sót khi tính toán dư nợ, điện nước.</a:t>
            </a:r>
            <a:endParaRPr lang="en-US" sz="2200" dirty="0"/>
          </a:p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2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 khăn trong vận hành:</a:t>
            </a:r>
            <a:endParaRPr lang="en-US" sz="2200" dirty="0"/>
          </a:p>
          <a:p>
            <a:pPr lvl="1" marL="685800" indent="-342900">
              <a:lnSpc>
                <a:spcPts val="3800"/>
              </a:lnSpc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Thiếu kênh tương tác liên tục giữa Ban quản lý và Cư dân (ví dụ: báo cáo sự cố, nhắc nợ).</a:t>
            </a:r>
            <a:endParaRPr lang="en-US" sz="2200" dirty="0"/>
          </a:p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giải pháp (SmartRent):</a:t>
            </a:r>
            <a:endParaRPr lang="en-US" sz="2200" dirty="0"/>
          </a:p>
          <a:p>
            <a:pPr lvl="1" marL="685800" indent="-342900">
              <a:lnSpc>
                <a:spcPts val="3800"/>
              </a:lnSpc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một nền tảng SaaS (Software as a Service) số hóa hoàn toàn vòng đời quản lý bất động sản cho thuê.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79552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Phạm vi &amp; Tính năng cốt lõi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8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Không gian: Thiết lập Tòa nhà, Lầu/Tầng, Phòng trọ, trạng thái phòng.</a:t>
            </a:r>
            <a:endParaRPr lang="en-US" sz="2200" dirty="0"/>
          </a:p>
          <a:p>
            <a:pPr marL="342900" indent="-342900">
              <a:lnSpc>
                <a:spcPts val="38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Cư trú: Hồ sơ khách thuê, hợp đồng ràng buộc giữa phòng và người thuê.</a:t>
            </a:r>
            <a:endParaRPr lang="en-US" sz="2200" dirty="0"/>
          </a:p>
          <a:p>
            <a:pPr marL="342900" indent="-342900">
              <a:lnSpc>
                <a:spcPts val="38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Tài chính: Ghi chỉ số Điện/Nước tự động, in Hóa đơn, theo dõi Công nợ.</a:t>
            </a:r>
            <a:endParaRPr lang="en-US" sz="2200" dirty="0"/>
          </a:p>
          <a:p>
            <a:pPr marL="342900" indent="-342900">
              <a:lnSpc>
                <a:spcPts val="38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Tương tác Hệ thống: Cơ chế nhắc nợ, cư dân gửi Ticket sửa chữa.</a:t>
            </a:r>
            <a:endParaRPr lang="en-US" sz="2200" dirty="0"/>
          </a:p>
          <a:p>
            <a:pPr marL="342900" indent="-342900">
              <a:lnSpc>
                <a:spcPts val="38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&amp; Phân tích: Dashboard trực quan về Tỷ lệ lấp đầy phòng, biểu đồ theo dõi doanh thu (doanh số thực nhận vs dư nợ).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79552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Mô hình &amp; Quy trình Phát triển Agile / Scrum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2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mô hình Agile:</a:t>
            </a:r>
            <a:endParaRPr lang="en-US" sz="2200" dirty="0"/>
          </a:p>
          <a:p>
            <a:pPr lvl="1" marL="685800" indent="-342900">
              <a:lnSpc>
                <a:spcPts val="3800"/>
              </a:lnSpc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triển linh hoạt qua 5 Sprints, mỗi Sprint tập trung phân phối một tính năng khép kín.</a:t>
            </a:r>
            <a:endParaRPr lang="en-US" sz="2200" dirty="0"/>
          </a:p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2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Thích ứng yêu cầu:</a:t>
            </a:r>
            <a:endParaRPr lang="en-US" sz="2200" dirty="0"/>
          </a:p>
          <a:p>
            <a:pPr lvl="1" marL="685800" indent="-342900">
              <a:lnSpc>
                <a:spcPts val="3800"/>
              </a:lnSpc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hệ thống lõi (Core Business) trong các Sprint đầu tiền để nhanh chóng lấy phản hồi từ Chủ trọ thực tế.</a:t>
            </a:r>
            <a:endParaRPr lang="en-US" sz="2200" dirty="0"/>
          </a:p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2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 nguồn lực:</a:t>
            </a:r>
            <a:endParaRPr lang="en-US" sz="2200" dirty="0"/>
          </a:p>
          <a:p>
            <a:pPr lvl="1" marL="685800" indent="-342900">
              <a:lnSpc>
                <a:spcPts val="3800"/>
              </a:lnSpc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rủi ro trong từng pha thiết kế DB và UI/UX để hạn chế phải đập đi xây lại khi mở rộng module mới.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79552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Kiến trúc &amp; Công nghệ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Client-Server RESTful API:</a:t>
            </a:r>
            <a:endParaRPr lang="en-US" sz="2200" dirty="0"/>
          </a:p>
          <a:p>
            <a:pPr lvl="1" marL="685800" indent="-342900">
              <a:lnSpc>
                <a:spcPts val="3800"/>
              </a:lnSpc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Backend độc lập, cho phép linh hoạt ghép nối với ứng dụng Web và Mobile sau này.</a:t>
            </a:r>
            <a:endParaRPr lang="en-US" sz="2200" dirty="0"/>
          </a:p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2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Công nghệ:</a:t>
            </a:r>
            <a:endParaRPr lang="en-US" sz="2200" dirty="0"/>
          </a:p>
          <a:p>
            <a:pPr lvl="1" marL="685800" indent="-342900">
              <a:lnSpc>
                <a:spcPts val="3800"/>
              </a:lnSpc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Java 21, Spring Boot framework, Spring Security (đảm bảo bảo mật bằng JWT).</a:t>
            </a:r>
            <a:endParaRPr lang="en-US" sz="2200" dirty="0"/>
          </a:p>
          <a:p>
            <a:pPr lvl="1" marL="685800" indent="-342900">
              <a:lnSpc>
                <a:spcPts val="3800"/>
              </a:lnSpc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PostgreSQL (sử dụng Flyway Migration quản lý phiên bản thay đổi dữ liệu).</a:t>
            </a:r>
            <a:endParaRPr lang="en-US" sz="2200" dirty="0"/>
          </a:p>
          <a:p>
            <a:pPr lvl="1" marL="685800" indent="-342900">
              <a:lnSpc>
                <a:spcPts val="3800"/>
              </a:lnSpc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ReactJS, Vite build tool, Material Tailwind React.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79552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Thiết kế Cơ sở Dữ liệu &amp; ERD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2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dữ liệu chặt chẽ qua 13 bảng:</a:t>
            </a:r>
            <a:endParaRPr lang="en-US" sz="2200" dirty="0"/>
          </a:p>
          <a:p>
            <a:pPr lvl="1" marL="685800" indent="-342900">
              <a:lnSpc>
                <a:spcPts val="3800"/>
              </a:lnSpc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Tenant (Chủ trọ) phân cấp: 1 Tenant -&gt; N Phòng -&gt; N Cư dân.</a:t>
            </a:r>
            <a:endParaRPr lang="en-US" sz="2200" dirty="0"/>
          </a:p>
          <a:p>
            <a:pPr lvl="1" marL="685800" indent="-342900">
              <a:lnSpc>
                <a:spcPts val="3800"/>
              </a:lnSpc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ràng buộc cao: Hóa đơn được phát sinh chuẩn hóa dựa trên Chỉ số điện/nước và Hợp đồng.</a:t>
            </a:r>
            <a:endParaRPr lang="en-US" sz="2200" dirty="0"/>
          </a:p>
        </p:txBody>
      </p:sp>
      <p:pic>
        <p:nvPicPr>
          <p:cNvPr id="4" name="Image 0" descr="D:\Documents\SmartRent\docs\erd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3200400"/>
            <a:ext cx="3657600" cy="3200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79552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6.1. Trang Tổng quan (Dashboard)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tỷ lệ lấp đầy phòng, doanh thu, lợi nhuận qua biểu đồ ApexCharts.</a:t>
            </a:r>
            <a:endParaRPr lang="en-US" sz="1600" dirty="0"/>
          </a:p>
        </p:txBody>
      </p:sp>
      <p:pic>
        <p:nvPicPr>
          <p:cNvPr id="4" name="Image 0" descr="D:\Documents\SmartRent\docs\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286000"/>
            <a:ext cx="768096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2286000"/>
            <a:ext cx="7680960" cy="4754880"/>
          </a:xfrm>
          <a:prstGeom prst="rect">
            <a:avLst/>
          </a:prstGeom>
          <a:ln w="25400">
            <a:solidFill>
              <a:srgbClr val="CBD5E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79552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6.2. Quản lý Phòng trọ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sách phòng hỗ trợ lọc nhanh, cập nhật trạng thái phòng thực tế.</a:t>
            </a:r>
            <a:endParaRPr lang="en-US" sz="1600" dirty="0"/>
          </a:p>
        </p:txBody>
      </p:sp>
      <p:pic>
        <p:nvPicPr>
          <p:cNvPr id="4" name="Image 0" descr="D:\Documents\SmartRent\docs\room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286000"/>
            <a:ext cx="768096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2286000"/>
            <a:ext cx="7680960" cy="4754880"/>
          </a:xfrm>
          <a:prstGeom prst="rect">
            <a:avLst/>
          </a:prstGeom>
          <a:ln w="25400">
            <a:solidFill>
              <a:srgbClr val="CBD5E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79552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6.3. Quản lý Hồ sơ Cư dân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trữ hồ sơ cư trú, định danh, liên kết thông tin hợp đồng hiện hành.</a:t>
            </a:r>
            <a:endParaRPr lang="en-US" sz="1600" dirty="0"/>
          </a:p>
        </p:txBody>
      </p:sp>
      <p:pic>
        <p:nvPicPr>
          <p:cNvPr id="4" name="Image 0" descr="D:\Documents\SmartRent\docs\resid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286000"/>
            <a:ext cx="768096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2286000"/>
            <a:ext cx="7680960" cy="4754880"/>
          </a:xfrm>
          <a:prstGeom prst="rect">
            <a:avLst/>
          </a:prstGeom>
          <a:ln w="25400">
            <a:solidFill>
              <a:srgbClr val="CBD5E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79552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6.4. Quản lý Hợp đồng Thuê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hợp đồng giữa các bên: cọc, tiền thuê, công cụ thanh lý hợp đồng.</a:t>
            </a:r>
            <a:endParaRPr lang="en-US" sz="1600" dirty="0"/>
          </a:p>
        </p:txBody>
      </p:sp>
      <p:pic>
        <p:nvPicPr>
          <p:cNvPr id="4" name="Image 0" descr="D:\Documents\SmartRent\docs\contrac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286000"/>
            <a:ext cx="768096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2286000"/>
            <a:ext cx="7680960" cy="4754880"/>
          </a:xfrm>
          <a:prstGeom prst="rect">
            <a:avLst/>
          </a:prstGeom>
          <a:ln w="25400">
            <a:solidFill>
              <a:srgbClr val="CBD5E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79552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6.5. Quản lý Hóa đơn &amp; Thu chi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hợp và hạch toán tự động từng khoản phí: Điền, nước, mặt bằng.</a:t>
            </a:r>
            <a:endParaRPr lang="en-US" sz="1600" dirty="0"/>
          </a:p>
        </p:txBody>
      </p:sp>
      <p:pic>
        <p:nvPicPr>
          <p:cNvPr id="4" name="Image 0" descr="D:\Documents\SmartRent\docs\bil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286000"/>
            <a:ext cx="768096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2286000"/>
            <a:ext cx="7680960" cy="4754880"/>
          </a:xfrm>
          <a:prstGeom prst="rect">
            <a:avLst/>
          </a:prstGeom>
          <a:ln w="25400">
            <a:solidFill>
              <a:srgbClr val="CBD5E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79552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6.6. Báo cáo &amp; Hỗ trợ kỹ thuật (Tickets)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Nơi cư dân gửi yêu cầu sửa chữa cơ sở vật chất (bóng đèn, vòi nước).</a:t>
            </a:r>
            <a:endParaRPr lang="en-US" sz="1600" dirty="0"/>
          </a:p>
        </p:txBody>
      </p:sp>
      <p:pic>
        <p:nvPicPr>
          <p:cNvPr id="4" name="Image 0" descr="D:\Documents\SmartRent\docs\ticke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286000"/>
            <a:ext cx="768096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2286000"/>
            <a:ext cx="7680960" cy="4754880"/>
          </a:xfrm>
          <a:prstGeom prst="rect">
            <a:avLst/>
          </a:prstGeom>
          <a:ln w="25400">
            <a:solidFill>
              <a:srgbClr val="CBD5E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79552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6.7. Quản lý Cư dân (Góc nhìn của Bảo vệ)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được phân quyền Role-Based (RBAC), bảo vệ chỉ được xem (Read-only), không được chỉnh sửa.</a:t>
            </a:r>
            <a:endParaRPr lang="en-US" sz="1600" dirty="0"/>
          </a:p>
        </p:txBody>
      </p:sp>
      <p:pic>
        <p:nvPicPr>
          <p:cNvPr id="4" name="Image 0" descr="D:\Documents\SmartRent\docs\residents-gu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286000"/>
            <a:ext cx="768096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2286000"/>
            <a:ext cx="7680960" cy="4754880"/>
          </a:xfrm>
          <a:prstGeom prst="rect">
            <a:avLst/>
          </a:prstGeom>
          <a:ln w="25400">
            <a:solidFill>
              <a:srgbClr val="CBD5E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79552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6.8. SmartRent Portal (Cổng cư dân)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web hóa đơn độc lập dành cho Người Thuê xem qua Token link (không cần tạo tài khoản mật khẩu).</a:t>
            </a:r>
            <a:endParaRPr lang="en-US" sz="1600" dirty="0"/>
          </a:p>
        </p:txBody>
      </p:sp>
      <p:pic>
        <p:nvPicPr>
          <p:cNvPr id="4" name="Image 0" descr="D:\Documents\SmartRent\docs\port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286000"/>
            <a:ext cx="768096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2286000"/>
            <a:ext cx="7680960" cy="4754880"/>
          </a:xfrm>
          <a:prstGeom prst="rect">
            <a:avLst/>
          </a:prstGeom>
          <a:ln w="25400">
            <a:solidFill>
              <a:srgbClr val="CBD5E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79552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Đảm bảo Chất lượng Phần mềm (Testing)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2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Hộp Trắng (White-box Testing):</a:t>
            </a:r>
            <a:endParaRPr lang="en-US" sz="2200" dirty="0"/>
          </a:p>
          <a:p>
            <a:pPr lvl="1" marL="685800" indent="-342900">
              <a:lnSpc>
                <a:spcPts val="3800"/>
              </a:lnSpc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chi tiết hàm tính toán Thanh lý (Liquidation summary): Công thức cấn trừ nợ phức tạp.</a:t>
            </a:r>
            <a:endParaRPr lang="en-US" sz="2200" dirty="0"/>
          </a:p>
          <a:p>
            <a:pPr lvl="1" marL="685800" indent="-342900">
              <a:lnSpc>
                <a:spcPts val="3800"/>
              </a:lnSpc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minh thuật toán sinh hóa đơn điện nước hoàn hảo kể cả phòng trống.</a:t>
            </a:r>
            <a:endParaRPr lang="en-US" sz="2200" dirty="0"/>
          </a:p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2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Hộp Đen (Black-box Testing):</a:t>
            </a:r>
            <a:endParaRPr lang="en-US" sz="2200" dirty="0"/>
          </a:p>
          <a:p>
            <a:pPr lvl="1" marL="685800" indent="-342900">
              <a:lnSpc>
                <a:spcPts val="3800"/>
              </a:lnSpc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hộp đen các validations khi Thêm phòng, Hợp đồng.</a:t>
            </a:r>
            <a:endParaRPr lang="en-US" sz="2200" dirty="0"/>
          </a:p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quyết định (Decision Table):</a:t>
            </a:r>
            <a:endParaRPr lang="en-US" sz="2200" dirty="0"/>
          </a:p>
          <a:p>
            <a:pPr lvl="1" marL="685800" indent="-342900">
              <a:lnSpc>
                <a:spcPts val="3800"/>
              </a:lnSpc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 dụng Decision Table kết hợp Rule-based engine để chặn Cư dân chưa trả nợ mà dọn đi.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79552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Kết luận &amp; Hướng phát triển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2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đạt được:</a:t>
            </a:r>
            <a:endParaRPr lang="en-US" sz="2200" dirty="0"/>
          </a:p>
          <a:p>
            <a:pPr lvl="1" marL="685800" indent="-342900">
              <a:lnSpc>
                <a:spcPts val="3800"/>
              </a:lnSpc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mềm cung cấp đúng, đủ UI đẹp mắt như một sản phẩm thương mại thực tế.</a:t>
            </a:r>
            <a:endParaRPr lang="en-US" sz="2200" dirty="0"/>
          </a:p>
          <a:p>
            <a:pPr lvl="1" marL="685800" indent="-342900">
              <a:lnSpc>
                <a:spcPts val="3800"/>
              </a:lnSpc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bảo mật, Multi-Tenant mạnh mẽ đáp ứng được đa Chủ trọ.</a:t>
            </a:r>
            <a:endParaRPr lang="en-US" sz="2200" dirty="0"/>
          </a:p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phát triển tương lai:</a:t>
            </a:r>
            <a:endParaRPr lang="en-US" sz="2200" dirty="0"/>
          </a:p>
          <a:p>
            <a:pPr marL="342900" indent="-342900">
              <a:lnSpc>
                <a:spcPts val="38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thanh toán online hoàn chỉnh (VNPay, MoMo, ZaloPay).</a:t>
            </a:r>
            <a:endParaRPr lang="en-US" sz="2200" dirty="0"/>
          </a:p>
          <a:p>
            <a:pPr marL="342900" indent="-342900">
              <a:lnSpc>
                <a:spcPts val="38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hành App Mobile React Native dành cho các chủ trọ đi xa.</a:t>
            </a:r>
            <a:endParaRPr lang="en-US" sz="2200" dirty="0"/>
          </a:p>
          <a:p>
            <a:pPr marL="342900" indent="-342900">
              <a:lnSpc>
                <a:spcPts val="3800"/>
              </a:lnSpc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OCR để chụp đồng hồ điện nước sẽ tự động điền số vào hệ thống.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79552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TRÂN TRỌNG CẢM ƠN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Sự tham gia lắng nghe của Thầy và các bạn lớp!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2026-04-17T17:22:43Z</dcterms:created>
  <dcterms:modified xsi:type="dcterms:W3CDTF">2026-04-17T17:22:43Z</dcterms:modified>
</cp:coreProperties>
</file>