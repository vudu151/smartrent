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1.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85750" y="571500"/>
            <a:ext cx="7915275" cy="207169"/>
          </a:xfrm>
          <a:prstGeom prst="rect">
            <a:avLst/>
          </a:prstGeom>
          <a:noFill/>
          <a:ln/>
        </p:spPr>
        <p:txBody>
          <a:bodyPr wrap="none" lIns="0" tIns="0" rIns="0" bIns="0" rtlCol="0" anchor="t">
            <a:spAutoFit/>
          </a:bodyPr>
          <a:lstStyle/>
          <a:p>
            <a:pPr algn="l" indent="0" marL="0">
              <a:lnSpc>
                <a:spcPts val="1600"/>
              </a:lnSpc>
              <a:buNone/>
            </a:pPr>
            <a:r>
              <a:rPr lang="en-US" sz="1193" b="1" spc="2" kern="0" dirty="0">
                <a:solidFill>
                  <a:srgbClr val="4F46E5"/>
                </a:solidFill>
                <a:latin typeface="Inter" pitchFamily="34" charset="0"/>
                <a:ea typeface="Inter" pitchFamily="34" charset="-122"/>
                <a:cs typeface="Inter" pitchFamily="34" charset="-120"/>
              </a:rPr>
              <a:t>BÁO CÁO BÀI TẬP LỚN</a:t>
            </a:r>
            <a:endParaRPr lang="en-US" sz="1193" dirty="0"/>
          </a:p>
        </p:txBody>
      </p:sp>
      <p:sp>
        <p:nvSpPr>
          <p:cNvPr id="4" name="Text 1"/>
          <p:cNvSpPr/>
          <p:nvPr/>
        </p:nvSpPr>
        <p:spPr>
          <a:xfrm>
            <a:off x="285750" y="989069"/>
            <a:ext cx="6897932" cy="960109"/>
          </a:xfrm>
          <a:prstGeom prst="rect">
            <a:avLst/>
          </a:prstGeom>
          <a:noFill/>
          <a:ln/>
        </p:spPr>
        <p:txBody>
          <a:bodyPr wrap="square" lIns="0" tIns="0" rIns="0" bIns="0" rtlCol="0" anchor="t">
            <a:spAutoFit/>
          </a:bodyPr>
          <a:lstStyle/>
          <a:p>
            <a:pPr algn="l" indent="0" marL="0">
              <a:lnSpc>
                <a:spcPts val="3800"/>
              </a:lnSpc>
              <a:buNone/>
            </a:pPr>
            <a:r>
              <a:rPr lang="en-US" sz="3294" b="1" dirty="0">
                <a:solidFill>
                  <a:srgbClr val="1E1B4B"/>
                </a:solidFill>
                <a:latin typeface="Montserrat" pitchFamily="34" charset="0"/>
                <a:ea typeface="Montserrat" pitchFamily="34" charset="-122"/>
                <a:cs typeface="Montserrat" pitchFamily="34" charset="-120"/>
              </a:rPr>
              <a:t>Xây dựng hệ thống quản lý </a:t>
            </a:r>
            <a:r>
              <a:rPr lang="en-US" sz="3294" b="1" dirty="0">
                <a:solidFill>
                  <a:srgbClr val="1E1B4B"/>
                </a:solidFill>
                <a:latin typeface="Montserrat" pitchFamily="34" charset="0"/>
                <a:ea typeface="Montserrat" pitchFamily="34" charset="-122"/>
                <a:cs typeface="Montserrat" pitchFamily="34" charset="-120"/>
              </a:rPr>
              <a:t>nhà trọ </a:t>
            </a:r>
            <a:r>
              <a:rPr lang="en-US" sz="3294" b="1" dirty="0">
                <a:solidFill>
                  <a:srgbClr val="4F46E5"/>
                </a:solidFill>
                <a:latin typeface="Montserrat" pitchFamily="34" charset="0"/>
                <a:ea typeface="Montserrat" pitchFamily="34" charset="-122"/>
                <a:cs typeface="Montserrat" pitchFamily="34" charset="-120"/>
              </a:rPr>
              <a:t>SmartRent</a:t>
            </a:r>
            <a:endParaRPr lang="en-US" sz="3294" dirty="0"/>
          </a:p>
        </p:txBody>
      </p:sp>
      <p:sp>
        <p:nvSpPr>
          <p:cNvPr id="5" name="Text 2"/>
          <p:cNvSpPr/>
          <p:nvPr/>
        </p:nvSpPr>
        <p:spPr>
          <a:xfrm>
            <a:off x="556391" y="2378869"/>
            <a:ext cx="107156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4F46E5"/>
                </a:solidFill>
                <a:latin typeface="Inter" pitchFamily="34" charset="0"/>
                <a:ea typeface="Inter" pitchFamily="34" charset="-122"/>
                <a:cs typeface="Inter" pitchFamily="34" charset="-120"/>
              </a:rPr>
              <a:t>Môn học:</a:t>
            </a:r>
            <a:endParaRPr lang="en-US" sz="987" dirty="0"/>
          </a:p>
        </p:txBody>
      </p:sp>
      <p:sp>
        <p:nvSpPr>
          <p:cNvPr id="6" name="Text 3"/>
          <p:cNvSpPr/>
          <p:nvPr/>
        </p:nvSpPr>
        <p:spPr>
          <a:xfrm>
            <a:off x="1627954" y="2378869"/>
            <a:ext cx="2269927" cy="173236"/>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1E1B4B"/>
                </a:solidFill>
                <a:latin typeface="Inter" pitchFamily="34" charset="0"/>
                <a:ea typeface="Inter" pitchFamily="34" charset="-122"/>
                <a:cs typeface="Inter" pitchFamily="34" charset="-120"/>
              </a:rPr>
              <a:t>Nhập môn Công nghệ phần mềm</a:t>
            </a:r>
            <a:endParaRPr lang="en-US" sz="1050" dirty="0"/>
          </a:p>
        </p:txBody>
      </p:sp>
      <p:sp>
        <p:nvSpPr>
          <p:cNvPr id="7" name="Text 4"/>
          <p:cNvSpPr/>
          <p:nvPr/>
        </p:nvSpPr>
        <p:spPr>
          <a:xfrm>
            <a:off x="556391" y="2594967"/>
            <a:ext cx="107156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4F46E5"/>
                </a:solidFill>
                <a:latin typeface="Inter" pitchFamily="34" charset="0"/>
                <a:ea typeface="Inter" pitchFamily="34" charset="-122"/>
                <a:cs typeface="Inter" pitchFamily="34" charset="-120"/>
              </a:rPr>
              <a:t>Giảng viên:</a:t>
            </a:r>
            <a:endParaRPr lang="en-US" sz="987" dirty="0"/>
          </a:p>
        </p:txBody>
      </p:sp>
      <p:sp>
        <p:nvSpPr>
          <p:cNvPr id="8" name="Text 5"/>
          <p:cNvSpPr/>
          <p:nvPr/>
        </p:nvSpPr>
        <p:spPr>
          <a:xfrm>
            <a:off x="1627954" y="2594967"/>
            <a:ext cx="1598414" cy="173236"/>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1E1B4B"/>
                </a:solidFill>
                <a:latin typeface="Inter" pitchFamily="34" charset="0"/>
                <a:ea typeface="Inter" pitchFamily="34" charset="-122"/>
                <a:cs typeface="Inter" pitchFamily="34" charset="-120"/>
              </a:rPr>
              <a:t>ThS. Nguyễn Sơn Tùng</a:t>
            </a:r>
            <a:endParaRPr lang="en-US" sz="1050" dirty="0"/>
          </a:p>
        </p:txBody>
      </p:sp>
      <p:sp>
        <p:nvSpPr>
          <p:cNvPr id="9" name="Text 6"/>
          <p:cNvSpPr/>
          <p:nvPr/>
        </p:nvSpPr>
        <p:spPr>
          <a:xfrm>
            <a:off x="556391" y="2811066"/>
            <a:ext cx="107156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4F46E5"/>
                </a:solidFill>
                <a:latin typeface="Inter" pitchFamily="34" charset="0"/>
                <a:ea typeface="Inter" pitchFamily="34" charset="-122"/>
                <a:cs typeface="Inter" pitchFamily="34" charset="-120"/>
              </a:rPr>
              <a:t>Sinh viên:</a:t>
            </a:r>
            <a:endParaRPr lang="en-US" sz="987" dirty="0"/>
          </a:p>
        </p:txBody>
      </p:sp>
      <p:sp>
        <p:nvSpPr>
          <p:cNvPr id="10" name="Text 7"/>
          <p:cNvSpPr/>
          <p:nvPr/>
        </p:nvSpPr>
        <p:spPr>
          <a:xfrm>
            <a:off x="1627954" y="2811066"/>
            <a:ext cx="844748" cy="173236"/>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1E1B4B"/>
                </a:solidFill>
                <a:latin typeface="Inter" pitchFamily="34" charset="0"/>
                <a:ea typeface="Inter" pitchFamily="34" charset="-122"/>
                <a:cs typeface="Inter" pitchFamily="34" charset="-120"/>
              </a:rPr>
              <a:t>Vũ Xuân Dự</a:t>
            </a:r>
            <a:endParaRPr lang="en-US" sz="1050" dirty="0"/>
          </a:p>
        </p:txBody>
      </p:sp>
      <p:sp>
        <p:nvSpPr>
          <p:cNvPr id="11" name="Text 8"/>
          <p:cNvSpPr/>
          <p:nvPr/>
        </p:nvSpPr>
        <p:spPr>
          <a:xfrm>
            <a:off x="556391" y="3027164"/>
            <a:ext cx="107156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4F46E5"/>
                </a:solidFill>
                <a:latin typeface="Inter" pitchFamily="34" charset="0"/>
                <a:ea typeface="Inter" pitchFamily="34" charset="-122"/>
                <a:cs typeface="Inter" pitchFamily="34" charset="-120"/>
              </a:rPr>
              <a:t>MSSV:</a:t>
            </a:r>
            <a:endParaRPr lang="en-US" sz="987" dirty="0"/>
          </a:p>
        </p:txBody>
      </p:sp>
      <p:sp>
        <p:nvSpPr>
          <p:cNvPr id="12" name="Text 9"/>
          <p:cNvSpPr/>
          <p:nvPr/>
        </p:nvSpPr>
        <p:spPr>
          <a:xfrm>
            <a:off x="1627954" y="3027164"/>
            <a:ext cx="830461" cy="173236"/>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1E1B4B"/>
                </a:solidFill>
                <a:latin typeface="Inter" pitchFamily="34" charset="0"/>
                <a:ea typeface="Inter" pitchFamily="34" charset="-122"/>
                <a:cs typeface="Inter" pitchFamily="34" charset="-120"/>
              </a:rPr>
              <a:t>20252731M</a:t>
            </a:r>
            <a:endParaRPr lang="en-US" sz="1050" dirty="0"/>
          </a:p>
        </p:txBody>
      </p:sp>
      <p:sp>
        <p:nvSpPr>
          <p:cNvPr id="13" name="Shape 10"/>
          <p:cNvSpPr/>
          <p:nvPr/>
        </p:nvSpPr>
        <p:spPr>
          <a:xfrm>
            <a:off x="8486775" y="0"/>
            <a:ext cx="892969" cy="5143500"/>
          </a:xfrm>
          <a:prstGeom prst="rect">
            <a:avLst/>
          </a:prstGeom>
          <a:solidFill>
            <a:srgbClr val="1E1B4B"/>
          </a:solidFill>
          <a:ln/>
        </p:spPr>
      </p:sp>
      <p:sp>
        <p:nvSpPr>
          <p:cNvPr id="14" name="Shape 11"/>
          <p:cNvSpPr/>
          <p:nvPr/>
        </p:nvSpPr>
        <p:spPr>
          <a:xfrm>
            <a:off x="7318931" y="0"/>
            <a:ext cx="2335689" cy="5143500"/>
          </a:xfrm>
          <a:prstGeom prst="rect">
            <a:avLst/>
          </a:prstGeom>
          <a:solidFill>
            <a:srgbClr val="1E1B4B"/>
          </a:solidFill>
          <a:ln/>
        </p:spPr>
      </p:sp>
      <p:pic>
        <p:nvPicPr>
          <p:cNvPr id="15" name="Image 1" descr="preencoded.png">    </p:cNvPr>
          <p:cNvPicPr>
            <a:picLocks noChangeAspect="1"/>
          </p:cNvPicPr>
          <p:nvPr/>
        </p:nvPicPr>
        <p:blipFill>
          <a:blip r:embed="rId2">
            <a:alphaModFix amt="20000"/>
          </a:blip>
          <a:stretch>
            <a:fillRect/>
          </a:stretch>
        </p:blipFill>
        <p:spPr>
          <a:xfrm>
            <a:off x="8486775" y="2214563"/>
            <a:ext cx="892969" cy="7143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1. GIỚI THIỆU BÀI TOÁN</a:t>
            </a:r>
            <a:endParaRPr lang="en-US" sz="1602" dirty="0"/>
          </a:p>
        </p:txBody>
      </p:sp>
      <p:pic>
        <p:nvPicPr>
          <p:cNvPr id="4" name="Image 1" descr="preencoded.png">    </p:cNvPr>
          <p:cNvPicPr>
            <a:picLocks noChangeAspect="1"/>
          </p:cNvPicPr>
          <p:nvPr/>
        </p:nvPicPr>
        <p:blipFill>
          <a:blip r:embed="rId2"/>
          <a:stretch>
            <a:fillRect/>
          </a:stretch>
        </p:blipFill>
        <p:spPr>
          <a:xfrm>
            <a:off x="571500" y="1286294"/>
            <a:ext cx="171450" cy="171450"/>
          </a:xfrm>
          <a:prstGeom prst="rect">
            <a:avLst/>
          </a:prstGeom>
        </p:spPr>
      </p:pic>
      <p:sp>
        <p:nvSpPr>
          <p:cNvPr id="5" name="Text 1"/>
          <p:cNvSpPr/>
          <p:nvPr/>
        </p:nvSpPr>
        <p:spPr>
          <a:xfrm>
            <a:off x="850106" y="1268434"/>
            <a:ext cx="1644848"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E1B4B"/>
                </a:solidFill>
                <a:latin typeface="Inter" pitchFamily="34" charset="0"/>
                <a:ea typeface="Inter" pitchFamily="34" charset="-122"/>
                <a:cs typeface="Inter" pitchFamily="34" charset="-120"/>
              </a:rPr>
              <a:t>Bối cảnh &amp; Mục tiêu</a:t>
            </a:r>
            <a:endParaRPr lang="en-US" sz="1193" dirty="0"/>
          </a:p>
        </p:txBody>
      </p:sp>
      <p:sp>
        <p:nvSpPr>
          <p:cNvPr id="6" name="Text 2"/>
          <p:cNvSpPr/>
          <p:nvPr/>
        </p:nvSpPr>
        <p:spPr>
          <a:xfrm>
            <a:off x="571500" y="1618478"/>
            <a:ext cx="3786188" cy="1028588"/>
          </a:xfrm>
          <a:prstGeom prst="rect">
            <a:avLst/>
          </a:prstGeom>
          <a:noFill/>
          <a:ln/>
        </p:spPr>
        <p:txBody>
          <a:bodyPr wrap="square" lIns="0" tIns="0" rIns="0" bIns="0" rtlCol="0" anchor="t">
            <a:spAutoFit/>
          </a:bodyPr>
          <a:lstStyle/>
          <a:p>
            <a:pPr algn="just" indent="0" marL="0">
              <a:lnSpc>
                <a:spcPts val="1600"/>
              </a:lnSpc>
              <a:buNone/>
            </a:pPr>
            <a:r>
              <a:rPr lang="en-US" sz="942" dirty="0">
                <a:solidFill>
                  <a:srgbClr val="1E1B4B"/>
                </a:solidFill>
                <a:latin typeface="Inter" pitchFamily="34" charset="0"/>
                <a:ea typeface="Inter" pitchFamily="34" charset="-122"/>
                <a:cs typeface="Inter" pitchFamily="34" charset="-120"/>
              </a:rPr>
              <a:t>Thị trường nhà trọ phát triển mạnh mẽ nhưng phần lớn chủ trọ vẫn quản lý thủ công qua sổ tay hoặc tin nhắn. Điều này dẫn đến sai sót trong tính toán điện nước, khó khăn khi theo dõi công nợ và thiếu tính chuyên nghiệp trong giao tiếp với cư dân.</a:t>
            </a:r>
            <a:endParaRPr lang="en-US" sz="942" dirty="0"/>
          </a:p>
        </p:txBody>
      </p:sp>
      <p:sp>
        <p:nvSpPr>
          <p:cNvPr id="7" name="Text 3"/>
          <p:cNvSpPr/>
          <p:nvPr/>
        </p:nvSpPr>
        <p:spPr>
          <a:xfrm>
            <a:off x="571500" y="2818516"/>
            <a:ext cx="3786188" cy="822871"/>
          </a:xfrm>
          <a:prstGeom prst="rect">
            <a:avLst/>
          </a:prstGeom>
          <a:noFill/>
          <a:ln/>
        </p:spPr>
        <p:txBody>
          <a:bodyPr wrap="square" lIns="0" tIns="0" rIns="0" bIns="0" rtlCol="0" anchor="t">
            <a:spAutoFit/>
          </a:bodyPr>
          <a:lstStyle/>
          <a:p>
            <a:pPr algn="just" indent="0" marL="0">
              <a:lnSpc>
                <a:spcPts val="1600"/>
              </a:lnSpc>
              <a:buNone/>
            </a:pPr>
            <a:r>
              <a:rPr lang="en-US" sz="885" b="1" dirty="0">
                <a:solidFill>
                  <a:srgbClr val="1E1B4B"/>
                </a:solidFill>
                <a:latin typeface="Inter" pitchFamily="34" charset="0"/>
                <a:ea typeface="Inter" pitchFamily="34" charset="-122"/>
                <a:cs typeface="Inter" pitchFamily="34" charset="-120"/>
              </a:rPr>
              <a:t>SmartRent</a:t>
            </a:r>
            <a:r>
              <a:rPr lang="en-US" sz="942" dirty="0">
                <a:solidFill>
                  <a:srgbClr val="1E1B4B"/>
                </a:solidFill>
                <a:latin typeface="Inter" pitchFamily="34" charset="0"/>
                <a:ea typeface="Inter" pitchFamily="34" charset="-122"/>
                <a:cs typeface="Inter" pitchFamily="34" charset="-120"/>
              </a:rPr>
              <a:t> được xây dựng nhằm số hóa toàn bộ quy trình </a:t>
            </a:r>
            <a:r>
              <a:rPr lang="en-US" sz="942" dirty="0">
                <a:solidFill>
                  <a:srgbClr val="1E1B4B"/>
                </a:solidFill>
                <a:latin typeface="Inter" pitchFamily="34" charset="0"/>
                <a:ea typeface="Inter" pitchFamily="34" charset="-122"/>
                <a:cs typeface="Inter" pitchFamily="34" charset="-120"/>
              </a:rPr>
              <a:t>quản lý, giúp chủ trọ tối ưu hóa vận hành, minh bạch hóa tài </a:t>
            </a:r>
            <a:r>
              <a:rPr lang="en-US" sz="942" dirty="0">
                <a:solidFill>
                  <a:srgbClr val="1E1B4B"/>
                </a:solidFill>
                <a:latin typeface="Inter" pitchFamily="34" charset="0"/>
                <a:ea typeface="Inter" pitchFamily="34" charset="-122"/>
                <a:cs typeface="Inter" pitchFamily="34" charset="-120"/>
              </a:rPr>
              <a:t>chính và nâng cao trải nghiệm cho người thuê trọ thông qua </a:t>
            </a:r>
            <a:r>
              <a:rPr lang="en-US" sz="942" dirty="0">
                <a:solidFill>
                  <a:srgbClr val="1E1B4B"/>
                </a:solidFill>
                <a:latin typeface="Inter" pitchFamily="34" charset="0"/>
                <a:ea typeface="Inter" pitchFamily="34" charset="-122"/>
                <a:cs typeface="Inter" pitchFamily="34" charset="-120"/>
              </a:rPr>
              <a:t>nền tảng Web hiện đại.</a:t>
            </a:r>
            <a:endParaRPr lang="en-US" sz="942" dirty="0"/>
          </a:p>
        </p:txBody>
      </p:sp>
      <p:pic>
        <p:nvPicPr>
          <p:cNvPr id="8" name="Image 2" descr="preencoded.png">    </p:cNvPr>
          <p:cNvPicPr>
            <a:picLocks noChangeAspect="1"/>
          </p:cNvPicPr>
          <p:nvPr/>
        </p:nvPicPr>
        <p:blipFill>
          <a:blip r:embed="rId3"/>
          <a:stretch>
            <a:fillRect/>
          </a:stretch>
        </p:blipFill>
        <p:spPr>
          <a:xfrm>
            <a:off x="4786313" y="1286294"/>
            <a:ext cx="171450" cy="171450"/>
          </a:xfrm>
          <a:prstGeom prst="rect">
            <a:avLst/>
          </a:prstGeom>
        </p:spPr>
      </p:pic>
      <p:sp>
        <p:nvSpPr>
          <p:cNvPr id="9" name="Text 4"/>
          <p:cNvSpPr/>
          <p:nvPr/>
        </p:nvSpPr>
        <p:spPr>
          <a:xfrm>
            <a:off x="5064919" y="1268434"/>
            <a:ext cx="1364456"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E1B4B"/>
                </a:solidFill>
                <a:latin typeface="Inter" pitchFamily="34" charset="0"/>
                <a:ea typeface="Inter" pitchFamily="34" charset="-122"/>
                <a:cs typeface="Inter" pitchFamily="34" charset="-120"/>
              </a:rPr>
              <a:t>Nghiệp vụ chính</a:t>
            </a:r>
            <a:endParaRPr lang="en-US" sz="1193" dirty="0"/>
          </a:p>
        </p:txBody>
      </p:sp>
      <p:sp>
        <p:nvSpPr>
          <p:cNvPr id="10" name="Shape 5"/>
          <p:cNvSpPr/>
          <p:nvPr/>
        </p:nvSpPr>
        <p:spPr>
          <a:xfrm>
            <a:off x="4786313" y="1618478"/>
            <a:ext cx="285750" cy="285750"/>
          </a:xfrm>
          <a:prstGeom prst="rect">
            <a:avLst/>
          </a:prstGeom>
          <a:solidFill>
            <a:srgbClr val="F5F3FF"/>
          </a:solidFill>
          <a:ln/>
        </p:spPr>
      </p:sp>
      <p:pic>
        <p:nvPicPr>
          <p:cNvPr id="11" name="Image 3" descr="preencoded.png">    </p:cNvPr>
          <p:cNvPicPr>
            <a:picLocks noChangeAspect="1"/>
          </p:cNvPicPr>
          <p:nvPr/>
        </p:nvPicPr>
        <p:blipFill>
          <a:blip r:embed="rId4"/>
          <a:stretch>
            <a:fillRect/>
          </a:stretch>
        </p:blipFill>
        <p:spPr>
          <a:xfrm>
            <a:off x="4856857" y="1697059"/>
            <a:ext cx="144661" cy="128588"/>
          </a:xfrm>
          <a:prstGeom prst="rect">
            <a:avLst/>
          </a:prstGeom>
        </p:spPr>
      </p:pic>
      <p:sp>
        <p:nvSpPr>
          <p:cNvPr id="12" name="Text 6"/>
          <p:cNvSpPr/>
          <p:nvPr/>
        </p:nvSpPr>
        <p:spPr>
          <a:xfrm>
            <a:off x="5179219" y="1618478"/>
            <a:ext cx="1428750" cy="274309"/>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Quản lý phòng trọ &amp; Trạng thái</a:t>
            </a:r>
            <a:endParaRPr lang="en-US" sz="784" dirty="0"/>
          </a:p>
        </p:txBody>
      </p:sp>
      <p:sp>
        <p:nvSpPr>
          <p:cNvPr id="13" name="Shape 7"/>
          <p:cNvSpPr/>
          <p:nvPr/>
        </p:nvSpPr>
        <p:spPr>
          <a:xfrm>
            <a:off x="6750844" y="1618478"/>
            <a:ext cx="285750" cy="285750"/>
          </a:xfrm>
          <a:prstGeom prst="rect">
            <a:avLst/>
          </a:prstGeom>
          <a:solidFill>
            <a:srgbClr val="F5F3FF"/>
          </a:solidFill>
          <a:ln/>
        </p:spPr>
      </p:sp>
      <p:pic>
        <p:nvPicPr>
          <p:cNvPr id="14" name="Image 4" descr="preencoded.png">    </p:cNvPr>
          <p:cNvPicPr>
            <a:picLocks noChangeAspect="1"/>
          </p:cNvPicPr>
          <p:nvPr/>
        </p:nvPicPr>
        <p:blipFill>
          <a:blip r:embed="rId5"/>
          <a:stretch>
            <a:fillRect/>
          </a:stretch>
        </p:blipFill>
        <p:spPr>
          <a:xfrm>
            <a:off x="6813352" y="1697059"/>
            <a:ext cx="160734" cy="128588"/>
          </a:xfrm>
          <a:prstGeom prst="rect">
            <a:avLst/>
          </a:prstGeom>
        </p:spPr>
      </p:pic>
      <p:sp>
        <p:nvSpPr>
          <p:cNvPr id="15" name="Text 8"/>
          <p:cNvSpPr/>
          <p:nvPr/>
        </p:nvSpPr>
        <p:spPr>
          <a:xfrm>
            <a:off x="7143750" y="1618478"/>
            <a:ext cx="1428750" cy="274309"/>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Quản lý cư dân &amp; Thông tin cá nhân</a:t>
            </a:r>
            <a:endParaRPr lang="en-US" sz="784" dirty="0"/>
          </a:p>
        </p:txBody>
      </p:sp>
      <p:sp>
        <p:nvSpPr>
          <p:cNvPr id="16" name="Shape 9"/>
          <p:cNvSpPr/>
          <p:nvPr/>
        </p:nvSpPr>
        <p:spPr>
          <a:xfrm>
            <a:off x="4786313" y="2132828"/>
            <a:ext cx="285750" cy="285750"/>
          </a:xfrm>
          <a:prstGeom prst="rect">
            <a:avLst/>
          </a:prstGeom>
          <a:solidFill>
            <a:srgbClr val="F5F3FF"/>
          </a:solidFill>
          <a:ln/>
        </p:spPr>
      </p:sp>
      <p:pic>
        <p:nvPicPr>
          <p:cNvPr id="17" name="Image 5" descr="preencoded.png">    </p:cNvPr>
          <p:cNvPicPr>
            <a:picLocks noChangeAspect="1"/>
          </p:cNvPicPr>
          <p:nvPr/>
        </p:nvPicPr>
        <p:blipFill>
          <a:blip r:embed="rId6"/>
          <a:stretch>
            <a:fillRect/>
          </a:stretch>
        </p:blipFill>
        <p:spPr>
          <a:xfrm>
            <a:off x="4880967" y="2211409"/>
            <a:ext cx="96441" cy="128588"/>
          </a:xfrm>
          <a:prstGeom prst="rect">
            <a:avLst/>
          </a:prstGeom>
        </p:spPr>
      </p:pic>
      <p:sp>
        <p:nvSpPr>
          <p:cNvPr id="18" name="Text 10"/>
          <p:cNvSpPr/>
          <p:nvPr/>
        </p:nvSpPr>
        <p:spPr>
          <a:xfrm>
            <a:off x="5179219" y="2132828"/>
            <a:ext cx="1428750" cy="274309"/>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Hợp đồng thuê &amp; Thanh lý</a:t>
            </a:r>
            <a:endParaRPr lang="en-US" sz="784" dirty="0"/>
          </a:p>
        </p:txBody>
      </p:sp>
      <p:sp>
        <p:nvSpPr>
          <p:cNvPr id="19" name="Shape 11"/>
          <p:cNvSpPr/>
          <p:nvPr/>
        </p:nvSpPr>
        <p:spPr>
          <a:xfrm>
            <a:off x="6750844" y="2132828"/>
            <a:ext cx="285750" cy="285750"/>
          </a:xfrm>
          <a:prstGeom prst="rect">
            <a:avLst/>
          </a:prstGeom>
          <a:solidFill>
            <a:srgbClr val="F5F3FF"/>
          </a:solidFill>
          <a:ln/>
        </p:spPr>
      </p:sp>
      <p:pic>
        <p:nvPicPr>
          <p:cNvPr id="20" name="Image 6" descr="preencoded.png">    </p:cNvPr>
          <p:cNvPicPr>
            <a:picLocks noChangeAspect="1"/>
          </p:cNvPicPr>
          <p:nvPr/>
        </p:nvPicPr>
        <p:blipFill>
          <a:blip r:embed="rId7"/>
          <a:stretch>
            <a:fillRect/>
          </a:stretch>
        </p:blipFill>
        <p:spPr>
          <a:xfrm>
            <a:off x="6845498" y="2211409"/>
            <a:ext cx="96441" cy="128588"/>
          </a:xfrm>
          <a:prstGeom prst="rect">
            <a:avLst/>
          </a:prstGeom>
        </p:spPr>
      </p:pic>
      <p:sp>
        <p:nvSpPr>
          <p:cNvPr id="21" name="Text 12"/>
          <p:cNvSpPr/>
          <p:nvPr/>
        </p:nvSpPr>
        <p:spPr>
          <a:xfrm>
            <a:off x="7143750" y="2132828"/>
            <a:ext cx="1428750" cy="274309"/>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Ghi số điện nước &amp; Tính tiền tự động</a:t>
            </a:r>
            <a:endParaRPr lang="en-US" sz="784" dirty="0"/>
          </a:p>
        </p:txBody>
      </p:sp>
      <p:sp>
        <p:nvSpPr>
          <p:cNvPr id="22" name="Shape 13"/>
          <p:cNvSpPr/>
          <p:nvPr/>
        </p:nvSpPr>
        <p:spPr>
          <a:xfrm>
            <a:off x="4786313" y="2647178"/>
            <a:ext cx="285750" cy="285750"/>
          </a:xfrm>
          <a:prstGeom prst="rect">
            <a:avLst/>
          </a:prstGeom>
          <a:solidFill>
            <a:srgbClr val="F5F3FF"/>
          </a:solidFill>
          <a:ln/>
        </p:spPr>
      </p:sp>
      <p:pic>
        <p:nvPicPr>
          <p:cNvPr id="23" name="Image 7" descr="preencoded.png">    </p:cNvPr>
          <p:cNvPicPr>
            <a:picLocks noChangeAspect="1"/>
          </p:cNvPicPr>
          <p:nvPr/>
        </p:nvPicPr>
        <p:blipFill>
          <a:blip r:embed="rId8"/>
          <a:stretch>
            <a:fillRect/>
          </a:stretch>
        </p:blipFill>
        <p:spPr>
          <a:xfrm>
            <a:off x="4880967" y="2725759"/>
            <a:ext cx="96441" cy="128588"/>
          </a:xfrm>
          <a:prstGeom prst="rect">
            <a:avLst/>
          </a:prstGeom>
        </p:spPr>
      </p:pic>
      <p:sp>
        <p:nvSpPr>
          <p:cNvPr id="24" name="Text 14"/>
          <p:cNvSpPr/>
          <p:nvPr/>
        </p:nvSpPr>
        <p:spPr>
          <a:xfrm>
            <a:off x="5179219" y="2647178"/>
            <a:ext cx="1428750" cy="274309"/>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Quản lý hóa đơn &amp; Theo dõi thanh toán</a:t>
            </a:r>
            <a:endParaRPr lang="en-US" sz="784" dirty="0"/>
          </a:p>
        </p:txBody>
      </p:sp>
      <p:sp>
        <p:nvSpPr>
          <p:cNvPr id="25" name="Shape 15"/>
          <p:cNvSpPr/>
          <p:nvPr/>
        </p:nvSpPr>
        <p:spPr>
          <a:xfrm>
            <a:off x="6750844" y="2647178"/>
            <a:ext cx="285750" cy="285750"/>
          </a:xfrm>
          <a:prstGeom prst="rect">
            <a:avLst/>
          </a:prstGeom>
          <a:solidFill>
            <a:srgbClr val="F5F3FF"/>
          </a:solidFill>
          <a:ln/>
        </p:spPr>
      </p:sp>
      <p:pic>
        <p:nvPicPr>
          <p:cNvPr id="26" name="Image 8" descr="preencoded.png">    </p:cNvPr>
          <p:cNvPicPr>
            <a:picLocks noChangeAspect="1"/>
          </p:cNvPicPr>
          <p:nvPr/>
        </p:nvPicPr>
        <p:blipFill>
          <a:blip r:embed="rId9"/>
          <a:stretch>
            <a:fillRect/>
          </a:stretch>
        </p:blipFill>
        <p:spPr>
          <a:xfrm>
            <a:off x="6829425" y="2725759"/>
            <a:ext cx="128588" cy="128588"/>
          </a:xfrm>
          <a:prstGeom prst="rect">
            <a:avLst/>
          </a:prstGeom>
        </p:spPr>
      </p:pic>
      <p:sp>
        <p:nvSpPr>
          <p:cNvPr id="27" name="Text 16"/>
          <p:cNvSpPr/>
          <p:nvPr/>
        </p:nvSpPr>
        <p:spPr>
          <a:xfrm>
            <a:off x="7143750" y="2647178"/>
            <a:ext cx="1428750" cy="274309"/>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Dashboard thống kê &amp; Báo cáo</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2. CÁC BÊN LIÊN QUAN &amp; PHẠM VI DỰ ÁN</a:t>
            </a:r>
            <a:endParaRPr lang="en-US" sz="1602" dirty="0"/>
          </a:p>
        </p:txBody>
      </p:sp>
      <p:sp>
        <p:nvSpPr>
          <p:cNvPr id="4" name="Text 1"/>
          <p:cNvSpPr/>
          <p:nvPr/>
        </p:nvSpPr>
        <p:spPr>
          <a:xfrm>
            <a:off x="571500" y="1111272"/>
            <a:ext cx="8001000" cy="260747"/>
          </a:xfrm>
          <a:prstGeom prst="rect">
            <a:avLst/>
          </a:prstGeom>
          <a:noFill/>
          <a:ln/>
        </p:spPr>
        <p:txBody>
          <a:bodyPr wrap="none" lIns="0" tIns="0" rIns="0" bIns="68072"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Các bên liên quan (Actors)</a:t>
            </a:r>
            <a:endParaRPr lang="en-US" sz="1090" dirty="0"/>
          </a:p>
        </p:txBody>
      </p:sp>
      <p:sp>
        <p:nvSpPr>
          <p:cNvPr id="5" name="Shape 2"/>
          <p:cNvSpPr/>
          <p:nvPr/>
        </p:nvSpPr>
        <p:spPr>
          <a:xfrm>
            <a:off x="571500" y="1479175"/>
            <a:ext cx="2071688" cy="308967"/>
          </a:xfrm>
          <a:prstGeom prst="rect">
            <a:avLst/>
          </a:prstGeom>
          <a:solidFill>
            <a:srgbClr val="1E1B4B"/>
          </a:solidFill>
          <a:ln/>
        </p:spPr>
      </p:sp>
      <p:sp>
        <p:nvSpPr>
          <p:cNvPr id="6" name="Text 3"/>
          <p:cNvSpPr/>
          <p:nvPr/>
        </p:nvSpPr>
        <p:spPr>
          <a:xfrm>
            <a:off x="571500" y="1479175"/>
            <a:ext cx="2071688" cy="308967"/>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FFFFF"/>
                </a:solidFill>
                <a:latin typeface="Inter" pitchFamily="34" charset="0"/>
                <a:ea typeface="Inter" pitchFamily="34" charset="-122"/>
                <a:cs typeface="Inter" pitchFamily="34" charset="-120"/>
              </a:rPr>
              <a:t>Vai trò</a:t>
            </a:r>
            <a:endParaRPr lang="en-US" sz="784" dirty="0"/>
          </a:p>
        </p:txBody>
      </p:sp>
      <p:sp>
        <p:nvSpPr>
          <p:cNvPr id="7" name="Shape 4"/>
          <p:cNvSpPr/>
          <p:nvPr/>
        </p:nvSpPr>
        <p:spPr>
          <a:xfrm>
            <a:off x="2643188" y="1479175"/>
            <a:ext cx="5929313" cy="308967"/>
          </a:xfrm>
          <a:prstGeom prst="rect">
            <a:avLst/>
          </a:prstGeom>
          <a:solidFill>
            <a:srgbClr val="1E1B4B"/>
          </a:solidFill>
          <a:ln/>
        </p:spPr>
      </p:sp>
      <p:sp>
        <p:nvSpPr>
          <p:cNvPr id="8" name="Text 5"/>
          <p:cNvSpPr/>
          <p:nvPr/>
        </p:nvSpPr>
        <p:spPr>
          <a:xfrm>
            <a:off x="2643188" y="1479175"/>
            <a:ext cx="5929313" cy="308967"/>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FFFFF"/>
                </a:solidFill>
                <a:latin typeface="Inter" pitchFamily="34" charset="0"/>
                <a:ea typeface="Inter" pitchFamily="34" charset="-122"/>
                <a:cs typeface="Inter" pitchFamily="34" charset="-120"/>
              </a:rPr>
              <a:t>Mô tả chức năng chính</a:t>
            </a:r>
            <a:endParaRPr lang="en-US" sz="784" dirty="0"/>
          </a:p>
        </p:txBody>
      </p:sp>
      <p:pic>
        <p:nvPicPr>
          <p:cNvPr id="9" name="Image 1" descr="preencoded.png">    </p:cNvPr>
          <p:cNvPicPr>
            <a:picLocks noChangeAspect="1"/>
          </p:cNvPicPr>
          <p:nvPr/>
        </p:nvPicPr>
        <p:blipFill>
          <a:blip r:embed="rId2"/>
          <a:stretch>
            <a:fillRect/>
          </a:stretch>
        </p:blipFill>
        <p:spPr>
          <a:xfrm>
            <a:off x="714375" y="1884583"/>
            <a:ext cx="142875" cy="107156"/>
          </a:xfrm>
          <a:prstGeom prst="rect">
            <a:avLst/>
          </a:prstGeom>
        </p:spPr>
      </p:pic>
      <p:sp>
        <p:nvSpPr>
          <p:cNvPr id="10" name="Text 6"/>
          <p:cNvSpPr/>
          <p:nvPr/>
        </p:nvSpPr>
        <p:spPr>
          <a:xfrm>
            <a:off x="928688" y="1873867"/>
            <a:ext cx="675084"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Super Admin</a:t>
            </a:r>
            <a:endParaRPr lang="en-US" sz="734" dirty="0"/>
          </a:p>
        </p:txBody>
      </p:sp>
      <p:sp>
        <p:nvSpPr>
          <p:cNvPr id="11" name="Text 7"/>
          <p:cNvSpPr/>
          <p:nvPr/>
        </p:nvSpPr>
        <p:spPr>
          <a:xfrm>
            <a:off x="2643188" y="1788142"/>
            <a:ext cx="5929313" cy="307181"/>
          </a:xfrm>
          <a:prstGeom prst="rect">
            <a:avLst/>
          </a:prstGeom>
          <a:noFill/>
          <a:ln/>
        </p:spPr>
        <p:txBody>
          <a:bodyPr wrap="square" lIns="170053" tIns="102108" rIns="170053" bIns="102108" rtlCol="0" anchor="ctr">
            <a:spAutoFit/>
          </a:bodyPr>
          <a:lstStyle/>
          <a:p>
            <a:pPr algn="l" indent="0" marL="0">
              <a:lnSpc>
                <a:spcPts val="1000"/>
              </a:lnSpc>
              <a:buNone/>
            </a:pPr>
            <a:r>
              <a:rPr lang="en-US" sz="780" dirty="0">
                <a:solidFill>
                  <a:srgbClr val="1E1B4B"/>
                </a:solidFill>
                <a:latin typeface="Inter" pitchFamily="34" charset="0"/>
                <a:ea typeface="Inter" pitchFamily="34" charset="-122"/>
                <a:cs typeface="Inter" pitchFamily="34" charset="-120"/>
              </a:rPr>
              <a:t>Quản trị toàn bộ hệ thống, quản lý các tenant (chủ trọ) và phân quyền người dùng.</a:t>
            </a:r>
            <a:endParaRPr lang="en-US" sz="780" dirty="0"/>
          </a:p>
        </p:txBody>
      </p:sp>
      <p:pic>
        <p:nvPicPr>
          <p:cNvPr id="12" name="Image 2" descr="preencoded.png">    </p:cNvPr>
          <p:cNvPicPr>
            <a:picLocks noChangeAspect="1"/>
          </p:cNvPicPr>
          <p:nvPr/>
        </p:nvPicPr>
        <p:blipFill>
          <a:blip r:embed="rId3"/>
          <a:stretch>
            <a:fillRect/>
          </a:stretch>
        </p:blipFill>
        <p:spPr>
          <a:xfrm>
            <a:off x="714375" y="2191764"/>
            <a:ext cx="142875" cy="107156"/>
          </a:xfrm>
          <a:prstGeom prst="rect">
            <a:avLst/>
          </a:prstGeom>
        </p:spPr>
      </p:pic>
      <p:sp>
        <p:nvSpPr>
          <p:cNvPr id="13" name="Text 8"/>
          <p:cNvSpPr/>
          <p:nvPr/>
        </p:nvSpPr>
        <p:spPr>
          <a:xfrm>
            <a:off x="928688" y="2181048"/>
            <a:ext cx="851892"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Tenant Manager</a:t>
            </a:r>
            <a:endParaRPr lang="en-US" sz="734" dirty="0"/>
          </a:p>
        </p:txBody>
      </p:sp>
      <p:sp>
        <p:nvSpPr>
          <p:cNvPr id="14" name="Text 9"/>
          <p:cNvSpPr/>
          <p:nvPr/>
        </p:nvSpPr>
        <p:spPr>
          <a:xfrm>
            <a:off x="2643188" y="2095323"/>
            <a:ext cx="5929313" cy="307181"/>
          </a:xfrm>
          <a:prstGeom prst="rect">
            <a:avLst/>
          </a:prstGeom>
          <a:noFill/>
          <a:ln/>
        </p:spPr>
        <p:txBody>
          <a:bodyPr wrap="square" lIns="170053" tIns="102108" rIns="170053" bIns="102108" rtlCol="0" anchor="ctr">
            <a:spAutoFit/>
          </a:bodyPr>
          <a:lstStyle/>
          <a:p>
            <a:pPr algn="l" indent="0" marL="0">
              <a:lnSpc>
                <a:spcPts val="1000"/>
              </a:lnSpc>
              <a:buNone/>
            </a:pPr>
            <a:r>
              <a:rPr lang="en-US" sz="780" dirty="0">
                <a:solidFill>
                  <a:srgbClr val="1E1B4B"/>
                </a:solidFill>
                <a:latin typeface="Inter" pitchFamily="34" charset="0"/>
                <a:ea typeface="Inter" pitchFamily="34" charset="-122"/>
                <a:cs typeface="Inter" pitchFamily="34" charset="-120"/>
              </a:rPr>
              <a:t>Chủ trọ hoặc người quản lý tòa nhà; thực hiện mọi nghiệp vụ quản lý phòng, hợp đồng, hóa đơn.</a:t>
            </a:r>
            <a:endParaRPr lang="en-US" sz="780" dirty="0"/>
          </a:p>
        </p:txBody>
      </p:sp>
      <p:pic>
        <p:nvPicPr>
          <p:cNvPr id="15" name="Image 3" descr="preencoded.png">    </p:cNvPr>
          <p:cNvPicPr>
            <a:picLocks noChangeAspect="1"/>
          </p:cNvPicPr>
          <p:nvPr/>
        </p:nvPicPr>
        <p:blipFill>
          <a:blip r:embed="rId4"/>
          <a:stretch>
            <a:fillRect/>
          </a:stretch>
        </p:blipFill>
        <p:spPr>
          <a:xfrm>
            <a:off x="714375" y="2498945"/>
            <a:ext cx="142875" cy="107156"/>
          </a:xfrm>
          <a:prstGeom prst="rect">
            <a:avLst/>
          </a:prstGeom>
        </p:spPr>
      </p:pic>
      <p:sp>
        <p:nvSpPr>
          <p:cNvPr id="16" name="Text 10"/>
          <p:cNvSpPr/>
          <p:nvPr/>
        </p:nvSpPr>
        <p:spPr>
          <a:xfrm>
            <a:off x="928688" y="2488230"/>
            <a:ext cx="778669"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Guard (Bảo vệ)</a:t>
            </a:r>
            <a:endParaRPr lang="en-US" sz="734" dirty="0"/>
          </a:p>
        </p:txBody>
      </p:sp>
      <p:sp>
        <p:nvSpPr>
          <p:cNvPr id="17" name="Text 11"/>
          <p:cNvSpPr/>
          <p:nvPr/>
        </p:nvSpPr>
        <p:spPr>
          <a:xfrm>
            <a:off x="2643188" y="2402505"/>
            <a:ext cx="5929313" cy="307181"/>
          </a:xfrm>
          <a:prstGeom prst="rect">
            <a:avLst/>
          </a:prstGeom>
          <a:noFill/>
          <a:ln/>
        </p:spPr>
        <p:txBody>
          <a:bodyPr wrap="square" lIns="170053" tIns="102108" rIns="170053" bIns="102108" rtlCol="0" anchor="ctr">
            <a:spAutoFit/>
          </a:bodyPr>
          <a:lstStyle/>
          <a:p>
            <a:pPr algn="l" indent="0" marL="0">
              <a:lnSpc>
                <a:spcPts val="1000"/>
              </a:lnSpc>
              <a:buNone/>
            </a:pPr>
            <a:r>
              <a:rPr lang="en-US" sz="780" dirty="0">
                <a:solidFill>
                  <a:srgbClr val="1E1B4B"/>
                </a:solidFill>
                <a:latin typeface="Inter" pitchFamily="34" charset="0"/>
                <a:ea typeface="Inter" pitchFamily="34" charset="-122"/>
                <a:cs typeface="Inter" pitchFamily="34" charset="-120"/>
              </a:rPr>
              <a:t>Nhân viên an ninh; có quyền xem thông tin cư dân và trạng thái phòng để phục vụ công tác bảo vệ.</a:t>
            </a:r>
            <a:endParaRPr lang="en-US" sz="780" dirty="0"/>
          </a:p>
        </p:txBody>
      </p:sp>
      <p:pic>
        <p:nvPicPr>
          <p:cNvPr id="18" name="Image 4" descr="preencoded.png">    </p:cNvPr>
          <p:cNvPicPr>
            <a:picLocks noChangeAspect="1"/>
          </p:cNvPicPr>
          <p:nvPr/>
        </p:nvPicPr>
        <p:blipFill>
          <a:blip r:embed="rId5"/>
          <a:stretch>
            <a:fillRect/>
          </a:stretch>
        </p:blipFill>
        <p:spPr>
          <a:xfrm>
            <a:off x="714375" y="2806126"/>
            <a:ext cx="142875" cy="107156"/>
          </a:xfrm>
          <a:prstGeom prst="rect">
            <a:avLst/>
          </a:prstGeom>
        </p:spPr>
      </p:pic>
      <p:sp>
        <p:nvSpPr>
          <p:cNvPr id="19" name="Text 12"/>
          <p:cNvSpPr/>
          <p:nvPr/>
        </p:nvSpPr>
        <p:spPr>
          <a:xfrm>
            <a:off x="928688" y="2795411"/>
            <a:ext cx="839391"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Tenant (Cư dân)</a:t>
            </a:r>
            <a:endParaRPr lang="en-US" sz="734" dirty="0"/>
          </a:p>
        </p:txBody>
      </p:sp>
      <p:sp>
        <p:nvSpPr>
          <p:cNvPr id="20" name="Text 13"/>
          <p:cNvSpPr/>
          <p:nvPr/>
        </p:nvSpPr>
        <p:spPr>
          <a:xfrm>
            <a:off x="2643188" y="2709686"/>
            <a:ext cx="5929313" cy="307181"/>
          </a:xfrm>
          <a:prstGeom prst="rect">
            <a:avLst/>
          </a:prstGeom>
          <a:noFill/>
          <a:ln/>
        </p:spPr>
        <p:txBody>
          <a:bodyPr wrap="square" lIns="170053" tIns="102108" rIns="170053" bIns="102108" rtlCol="0" anchor="ctr">
            <a:spAutoFit/>
          </a:bodyPr>
          <a:lstStyle/>
          <a:p>
            <a:pPr algn="l" indent="0" marL="0">
              <a:lnSpc>
                <a:spcPts val="1000"/>
              </a:lnSpc>
              <a:buNone/>
            </a:pPr>
            <a:r>
              <a:rPr lang="en-US" sz="780" dirty="0">
                <a:solidFill>
                  <a:srgbClr val="1E1B4B"/>
                </a:solidFill>
                <a:latin typeface="Inter" pitchFamily="34" charset="0"/>
                <a:ea typeface="Inter" pitchFamily="34" charset="-122"/>
                <a:cs typeface="Inter" pitchFamily="34" charset="-120"/>
              </a:rPr>
              <a:t>Người thuê trọ; xem thông tin cá nhân, hóa đơn và gửi yêu cầu sửa chữa (Tickets).</a:t>
            </a:r>
            <a:endParaRPr lang="en-US" sz="780" dirty="0"/>
          </a:p>
        </p:txBody>
      </p:sp>
      <p:sp>
        <p:nvSpPr>
          <p:cNvPr id="21" name="Text 14"/>
          <p:cNvSpPr/>
          <p:nvPr/>
        </p:nvSpPr>
        <p:spPr>
          <a:xfrm>
            <a:off x="571500" y="3306189"/>
            <a:ext cx="8001000" cy="260747"/>
          </a:xfrm>
          <a:prstGeom prst="rect">
            <a:avLst/>
          </a:prstGeom>
          <a:noFill/>
          <a:ln/>
        </p:spPr>
        <p:txBody>
          <a:bodyPr wrap="none" lIns="0" tIns="0" rIns="0" bIns="68072"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Phạm vi dự án</a:t>
            </a:r>
            <a:endParaRPr lang="en-US" sz="1090" dirty="0"/>
          </a:p>
        </p:txBody>
      </p:sp>
      <p:sp>
        <p:nvSpPr>
          <p:cNvPr id="22" name="Shape 15"/>
          <p:cNvSpPr/>
          <p:nvPr/>
        </p:nvSpPr>
        <p:spPr>
          <a:xfrm>
            <a:off x="571500" y="3674092"/>
            <a:ext cx="1893094" cy="1209387"/>
          </a:xfrm>
          <a:prstGeom prst="rect">
            <a:avLst/>
          </a:prstGeom>
          <a:solidFill>
            <a:srgbClr val="F5F3FF"/>
          </a:solidFill>
          <a:ln/>
        </p:spPr>
      </p:sp>
      <p:pic>
        <p:nvPicPr>
          <p:cNvPr id="23" name="Image 5" descr="preencoded.png">    </p:cNvPr>
          <p:cNvPicPr>
            <a:picLocks noChangeAspect="1"/>
          </p:cNvPicPr>
          <p:nvPr/>
        </p:nvPicPr>
        <p:blipFill>
          <a:blip r:embed="rId6"/>
          <a:stretch>
            <a:fillRect/>
          </a:stretch>
        </p:blipFill>
        <p:spPr>
          <a:xfrm>
            <a:off x="1432322" y="3833040"/>
            <a:ext cx="171450" cy="171450"/>
          </a:xfrm>
          <a:prstGeom prst="rect">
            <a:avLst/>
          </a:prstGeom>
        </p:spPr>
      </p:pic>
      <p:sp>
        <p:nvSpPr>
          <p:cNvPr id="24" name="Text 16"/>
          <p:cNvSpPr/>
          <p:nvPr/>
        </p:nvSpPr>
        <p:spPr>
          <a:xfrm>
            <a:off x="714375" y="4109861"/>
            <a:ext cx="1607344" cy="13751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1E1B4B"/>
                </a:solidFill>
                <a:latin typeface="Inter" pitchFamily="34" charset="0"/>
                <a:ea typeface="Inter" pitchFamily="34" charset="-122"/>
                <a:cs typeface="Inter" pitchFamily="34" charset="-120"/>
              </a:rPr>
              <a:t>Multi-tenant</a:t>
            </a:r>
            <a:endParaRPr lang="en-US" sz="784" dirty="0"/>
          </a:p>
        </p:txBody>
      </p:sp>
      <p:sp>
        <p:nvSpPr>
          <p:cNvPr id="25" name="Text 17"/>
          <p:cNvSpPr/>
          <p:nvPr/>
        </p:nvSpPr>
        <p:spPr>
          <a:xfrm>
            <a:off x="821531" y="4318815"/>
            <a:ext cx="1393031"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Dữ liệu giữa các chủ trọ được</a:t>
            </a:r>
            <a:endParaRPr lang="en-US" sz="727" dirty="0"/>
          </a:p>
        </p:txBody>
      </p:sp>
      <p:sp>
        <p:nvSpPr>
          <p:cNvPr id="26" name="Text 18"/>
          <p:cNvSpPr/>
          <p:nvPr/>
        </p:nvSpPr>
        <p:spPr>
          <a:xfrm>
            <a:off x="936724" y="4464174"/>
            <a:ext cx="1162645"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cách ly hoàn toàn ở mức</a:t>
            </a:r>
            <a:endParaRPr lang="en-US" sz="727" dirty="0"/>
          </a:p>
        </p:txBody>
      </p:sp>
      <p:sp>
        <p:nvSpPr>
          <p:cNvPr id="27" name="Text 19"/>
          <p:cNvSpPr/>
          <p:nvPr/>
        </p:nvSpPr>
        <p:spPr>
          <a:xfrm>
            <a:off x="1281410" y="4609533"/>
            <a:ext cx="473273"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Database.</a:t>
            </a:r>
            <a:endParaRPr lang="en-US" sz="727" dirty="0"/>
          </a:p>
        </p:txBody>
      </p:sp>
      <p:sp>
        <p:nvSpPr>
          <p:cNvPr id="28" name="Shape 20"/>
          <p:cNvSpPr/>
          <p:nvPr/>
        </p:nvSpPr>
        <p:spPr>
          <a:xfrm>
            <a:off x="2607469" y="3674092"/>
            <a:ext cx="1893094" cy="1209387"/>
          </a:xfrm>
          <a:prstGeom prst="rect">
            <a:avLst/>
          </a:prstGeom>
          <a:solidFill>
            <a:srgbClr val="F5F3FF"/>
          </a:solidFill>
          <a:ln/>
        </p:spPr>
      </p:sp>
      <p:sp>
        <p:nvSpPr>
          <p:cNvPr id="29" name="Text 21"/>
          <p:cNvSpPr/>
          <p:nvPr/>
        </p:nvSpPr>
        <p:spPr>
          <a:xfrm>
            <a:off x="2750344" y="4109861"/>
            <a:ext cx="1607344" cy="13751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1E1B4B"/>
                </a:solidFill>
                <a:latin typeface="Inter" pitchFamily="34" charset="0"/>
                <a:ea typeface="Inter" pitchFamily="34" charset="-122"/>
                <a:cs typeface="Inter" pitchFamily="34" charset="-120"/>
              </a:rPr>
              <a:t>Responsive Web</a:t>
            </a:r>
            <a:endParaRPr lang="en-US" sz="784" dirty="0"/>
          </a:p>
        </p:txBody>
      </p:sp>
      <p:sp>
        <p:nvSpPr>
          <p:cNvPr id="30" name="Text 22"/>
          <p:cNvSpPr/>
          <p:nvPr/>
        </p:nvSpPr>
        <p:spPr>
          <a:xfrm>
            <a:off x="2761059" y="4318815"/>
            <a:ext cx="1585913"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Hoạt động mượt mà trên mọi thiết</a:t>
            </a:r>
            <a:endParaRPr lang="en-US" sz="727" dirty="0"/>
          </a:p>
        </p:txBody>
      </p:sp>
      <p:sp>
        <p:nvSpPr>
          <p:cNvPr id="31" name="Text 23"/>
          <p:cNvSpPr/>
          <p:nvPr/>
        </p:nvSpPr>
        <p:spPr>
          <a:xfrm>
            <a:off x="2910185" y="4464174"/>
            <a:ext cx="1287661"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bị: Desktop, Tablet, Mobile.</a:t>
            </a:r>
            <a:endParaRPr lang="en-US" sz="727" dirty="0"/>
          </a:p>
        </p:txBody>
      </p:sp>
      <p:sp>
        <p:nvSpPr>
          <p:cNvPr id="32" name="Shape 24"/>
          <p:cNvSpPr/>
          <p:nvPr/>
        </p:nvSpPr>
        <p:spPr>
          <a:xfrm>
            <a:off x="4643438" y="3674092"/>
            <a:ext cx="1893094" cy="1209387"/>
          </a:xfrm>
          <a:prstGeom prst="rect">
            <a:avLst/>
          </a:prstGeom>
          <a:solidFill>
            <a:srgbClr val="F5F3FF"/>
          </a:solidFill>
          <a:ln/>
        </p:spPr>
      </p:sp>
      <p:pic>
        <p:nvPicPr>
          <p:cNvPr id="33" name="Image 6" descr="preencoded.png">    </p:cNvPr>
          <p:cNvPicPr>
            <a:picLocks noChangeAspect="1"/>
          </p:cNvPicPr>
          <p:nvPr/>
        </p:nvPicPr>
        <p:blipFill>
          <a:blip r:embed="rId7"/>
          <a:stretch>
            <a:fillRect/>
          </a:stretch>
        </p:blipFill>
        <p:spPr>
          <a:xfrm>
            <a:off x="5504259" y="3833040"/>
            <a:ext cx="171450" cy="171450"/>
          </a:xfrm>
          <a:prstGeom prst="rect">
            <a:avLst/>
          </a:prstGeom>
        </p:spPr>
      </p:pic>
      <p:sp>
        <p:nvSpPr>
          <p:cNvPr id="34" name="Text 25"/>
          <p:cNvSpPr/>
          <p:nvPr/>
        </p:nvSpPr>
        <p:spPr>
          <a:xfrm>
            <a:off x="4786313" y="4109861"/>
            <a:ext cx="1607344" cy="13751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1E1B4B"/>
                </a:solidFill>
                <a:latin typeface="Inter" pitchFamily="34" charset="0"/>
                <a:ea typeface="Inter" pitchFamily="34" charset="-122"/>
                <a:cs typeface="Inter" pitchFamily="34" charset="-120"/>
              </a:rPr>
              <a:t>Security JWT</a:t>
            </a:r>
            <a:endParaRPr lang="en-US" sz="784" dirty="0"/>
          </a:p>
        </p:txBody>
      </p:sp>
      <p:sp>
        <p:nvSpPr>
          <p:cNvPr id="35" name="Text 26"/>
          <p:cNvSpPr/>
          <p:nvPr/>
        </p:nvSpPr>
        <p:spPr>
          <a:xfrm>
            <a:off x="4838105" y="4318815"/>
            <a:ext cx="1503759"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Xác thực an toàn với JSON Web</a:t>
            </a:r>
            <a:endParaRPr lang="en-US" sz="727" dirty="0"/>
          </a:p>
        </p:txBody>
      </p:sp>
      <p:sp>
        <p:nvSpPr>
          <p:cNvPr id="36" name="Text 27"/>
          <p:cNvSpPr/>
          <p:nvPr/>
        </p:nvSpPr>
        <p:spPr>
          <a:xfrm>
            <a:off x="4830961" y="4464174"/>
            <a:ext cx="1518047"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Token và cơ chế Refresh Token.</a:t>
            </a:r>
            <a:endParaRPr lang="en-US" sz="727" dirty="0"/>
          </a:p>
        </p:txBody>
      </p:sp>
      <p:sp>
        <p:nvSpPr>
          <p:cNvPr id="37" name="Shape 28"/>
          <p:cNvSpPr/>
          <p:nvPr/>
        </p:nvSpPr>
        <p:spPr>
          <a:xfrm>
            <a:off x="6679406" y="3674092"/>
            <a:ext cx="1893094" cy="1209387"/>
          </a:xfrm>
          <a:prstGeom prst="rect">
            <a:avLst/>
          </a:prstGeom>
          <a:solidFill>
            <a:srgbClr val="F5F3FF"/>
          </a:solidFill>
          <a:ln/>
        </p:spPr>
      </p:sp>
      <p:pic>
        <p:nvPicPr>
          <p:cNvPr id="38" name="Image 7" descr="preencoded.png">    </p:cNvPr>
          <p:cNvPicPr>
            <a:picLocks noChangeAspect="1"/>
          </p:cNvPicPr>
          <p:nvPr/>
        </p:nvPicPr>
        <p:blipFill>
          <a:blip r:embed="rId8"/>
          <a:stretch>
            <a:fillRect/>
          </a:stretch>
        </p:blipFill>
        <p:spPr>
          <a:xfrm>
            <a:off x="7518797" y="3833040"/>
            <a:ext cx="214313" cy="171450"/>
          </a:xfrm>
          <a:prstGeom prst="rect">
            <a:avLst/>
          </a:prstGeom>
        </p:spPr>
      </p:pic>
      <p:sp>
        <p:nvSpPr>
          <p:cNvPr id="39" name="Text 29"/>
          <p:cNvSpPr/>
          <p:nvPr/>
        </p:nvSpPr>
        <p:spPr>
          <a:xfrm>
            <a:off x="6822281" y="4109861"/>
            <a:ext cx="1607344" cy="13751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1E1B4B"/>
                </a:solidFill>
                <a:latin typeface="Inter" pitchFamily="34" charset="0"/>
                <a:ea typeface="Inter" pitchFamily="34" charset="-122"/>
                <a:cs typeface="Inter" pitchFamily="34" charset="-120"/>
              </a:rPr>
              <a:t>Phân quyền RBAC</a:t>
            </a:r>
            <a:endParaRPr lang="en-US" sz="784" dirty="0"/>
          </a:p>
        </p:txBody>
      </p:sp>
      <p:sp>
        <p:nvSpPr>
          <p:cNvPr id="40" name="Text 30"/>
          <p:cNvSpPr/>
          <p:nvPr/>
        </p:nvSpPr>
        <p:spPr>
          <a:xfrm>
            <a:off x="6889254" y="4318815"/>
            <a:ext cx="1473398"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Kiểm soát truy cập dựa trên vai</a:t>
            </a:r>
            <a:endParaRPr lang="en-US" sz="727" dirty="0"/>
          </a:p>
        </p:txBody>
      </p:sp>
      <p:sp>
        <p:nvSpPr>
          <p:cNvPr id="41" name="Text 31"/>
          <p:cNvSpPr/>
          <p:nvPr/>
        </p:nvSpPr>
        <p:spPr>
          <a:xfrm>
            <a:off x="6846391" y="4464174"/>
            <a:ext cx="1559123" cy="121444"/>
          </a:xfrm>
          <a:prstGeom prst="rect">
            <a:avLst/>
          </a:prstGeom>
          <a:noFill/>
          <a:ln/>
        </p:spPr>
        <p:txBody>
          <a:bodyPr wrap="none" lIns="0" tIns="0" rIns="0" bIns="0" rtlCol="0" anchor="t">
            <a:spAutoFit/>
          </a:bodyPr>
          <a:lstStyle/>
          <a:p>
            <a:pPr algn="ctr" indent="0" marL="0">
              <a:lnSpc>
                <a:spcPts val="1100"/>
              </a:lnSpc>
              <a:buNone/>
            </a:pPr>
            <a:r>
              <a:rPr lang="en-US" sz="727" dirty="0">
                <a:solidFill>
                  <a:srgbClr val="4B5563"/>
                </a:solidFill>
                <a:latin typeface="Inter" pitchFamily="34" charset="0"/>
                <a:ea typeface="Inter" pitchFamily="34" charset="-122"/>
                <a:cs typeface="Inter" pitchFamily="34" charset="-120"/>
              </a:rPr>
              <a:t>trò (Role-Based Access Control).</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3. VÒNG ĐỜI PHÁT TRIỂN PHẦN MỀM</a:t>
            </a:r>
            <a:endParaRPr lang="en-US" sz="1602" dirty="0"/>
          </a:p>
        </p:txBody>
      </p:sp>
      <p:pic>
        <p:nvPicPr>
          <p:cNvPr id="4" name="Image 1" descr="preencoded.png">    </p:cNvPr>
          <p:cNvPicPr>
            <a:picLocks noChangeAspect="1"/>
          </p:cNvPicPr>
          <p:nvPr/>
        </p:nvPicPr>
        <p:blipFill>
          <a:blip r:embed="rId2"/>
          <a:stretch>
            <a:fillRect/>
          </a:stretch>
        </p:blipFill>
        <p:spPr>
          <a:xfrm>
            <a:off x="571500" y="1200569"/>
            <a:ext cx="171450" cy="171450"/>
          </a:xfrm>
          <a:prstGeom prst="rect">
            <a:avLst/>
          </a:prstGeom>
        </p:spPr>
      </p:pic>
      <p:sp>
        <p:nvSpPr>
          <p:cNvPr id="5" name="Text 1"/>
          <p:cNvSpPr/>
          <p:nvPr/>
        </p:nvSpPr>
        <p:spPr>
          <a:xfrm>
            <a:off x="850106" y="1182709"/>
            <a:ext cx="1755577"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E1B4B"/>
                </a:solidFill>
                <a:latin typeface="Inter" pitchFamily="34" charset="0"/>
                <a:ea typeface="Inter" pitchFamily="34" charset="-122"/>
                <a:cs typeface="Inter" pitchFamily="34" charset="-120"/>
              </a:rPr>
              <a:t>Mô hình Agile/Scrum</a:t>
            </a:r>
            <a:endParaRPr lang="en-US" sz="1193" dirty="0"/>
          </a:p>
        </p:txBody>
      </p:sp>
      <p:sp>
        <p:nvSpPr>
          <p:cNvPr id="6" name="Shape 2"/>
          <p:cNvSpPr/>
          <p:nvPr/>
        </p:nvSpPr>
        <p:spPr>
          <a:xfrm>
            <a:off x="571500" y="1568472"/>
            <a:ext cx="3714750" cy="1621631"/>
          </a:xfrm>
          <a:prstGeom prst="rect">
            <a:avLst/>
          </a:prstGeom>
          <a:solidFill>
            <a:srgbClr val="F5F3FF"/>
          </a:solidFill>
          <a:ln/>
        </p:spPr>
      </p:sp>
      <p:pic>
        <p:nvPicPr>
          <p:cNvPr id="7" name="Image 2" descr="preencoded.png">    </p:cNvPr>
          <p:cNvPicPr>
            <a:picLocks noChangeAspect="1"/>
          </p:cNvPicPr>
          <p:nvPr/>
        </p:nvPicPr>
        <p:blipFill>
          <a:blip r:embed="rId3"/>
          <a:stretch>
            <a:fillRect/>
          </a:stretch>
        </p:blipFill>
        <p:spPr>
          <a:xfrm>
            <a:off x="785813" y="1789035"/>
            <a:ext cx="142875" cy="142875"/>
          </a:xfrm>
          <a:prstGeom prst="rect">
            <a:avLst/>
          </a:prstGeom>
        </p:spPr>
      </p:pic>
      <p:sp>
        <p:nvSpPr>
          <p:cNvPr id="8" name="Text 3"/>
          <p:cNvSpPr/>
          <p:nvPr/>
        </p:nvSpPr>
        <p:spPr>
          <a:xfrm>
            <a:off x="1035844" y="1782784"/>
            <a:ext cx="2377083" cy="155377"/>
          </a:xfrm>
          <a:prstGeom prst="rect">
            <a:avLst/>
          </a:prstGeom>
          <a:noFill/>
          <a:ln/>
        </p:spPr>
        <p:txBody>
          <a:bodyPr wrap="none" lIns="0" tIns="0" rIns="0" bIns="0" rtlCol="0" anchor="t">
            <a:spAutoFit/>
          </a:bodyPr>
          <a:lstStyle/>
          <a:p>
            <a:pPr algn="l" indent="0" marL="0">
              <a:lnSpc>
                <a:spcPts val="1200"/>
              </a:lnSpc>
              <a:buNone/>
            </a:pPr>
            <a:r>
              <a:rPr lang="en-US" sz="942" dirty="0">
                <a:solidFill>
                  <a:srgbClr val="1E1B4B"/>
                </a:solidFill>
                <a:latin typeface="Inter" pitchFamily="34" charset="0"/>
                <a:ea typeface="Inter" pitchFamily="34" charset="-122"/>
                <a:cs typeface="Inter" pitchFamily="34" charset="-120"/>
              </a:rPr>
              <a:t>Linh hoạt điều chỉnh yêu cầu nghiệp vụ</a:t>
            </a:r>
            <a:endParaRPr lang="en-US" sz="942" dirty="0"/>
          </a:p>
        </p:txBody>
      </p:sp>
      <p:pic>
        <p:nvPicPr>
          <p:cNvPr id="9" name="Image 3" descr="preencoded.png">    </p:cNvPr>
          <p:cNvPicPr>
            <a:picLocks noChangeAspect="1"/>
          </p:cNvPicPr>
          <p:nvPr/>
        </p:nvPicPr>
        <p:blipFill>
          <a:blip r:embed="rId4"/>
          <a:stretch>
            <a:fillRect/>
          </a:stretch>
        </p:blipFill>
        <p:spPr>
          <a:xfrm>
            <a:off x="785813" y="2087287"/>
            <a:ext cx="142875" cy="142875"/>
          </a:xfrm>
          <a:prstGeom prst="rect">
            <a:avLst/>
          </a:prstGeom>
        </p:spPr>
      </p:pic>
      <p:sp>
        <p:nvSpPr>
          <p:cNvPr id="10" name="Text 4"/>
          <p:cNvSpPr/>
          <p:nvPr/>
        </p:nvSpPr>
        <p:spPr>
          <a:xfrm>
            <a:off x="1035844" y="2081036"/>
            <a:ext cx="2239566" cy="155377"/>
          </a:xfrm>
          <a:prstGeom prst="rect">
            <a:avLst/>
          </a:prstGeom>
          <a:noFill/>
          <a:ln/>
        </p:spPr>
        <p:txBody>
          <a:bodyPr wrap="none" lIns="0" tIns="0" rIns="0" bIns="0" rtlCol="0" anchor="t">
            <a:spAutoFit/>
          </a:bodyPr>
          <a:lstStyle/>
          <a:p>
            <a:pPr algn="l" indent="0" marL="0">
              <a:lnSpc>
                <a:spcPts val="1200"/>
              </a:lnSpc>
              <a:buNone/>
            </a:pPr>
            <a:r>
              <a:rPr lang="en-US" sz="942" dirty="0">
                <a:solidFill>
                  <a:srgbClr val="1E1B4B"/>
                </a:solidFill>
                <a:latin typeface="Inter" pitchFamily="34" charset="0"/>
                <a:ea typeface="Inter" pitchFamily="34" charset="-122"/>
                <a:cs typeface="Inter" pitchFamily="34" charset="-120"/>
              </a:rPr>
              <a:t>Phát triển lặp theo Sprint (2 tuần/lần)</a:t>
            </a:r>
            <a:endParaRPr lang="en-US" sz="942" dirty="0"/>
          </a:p>
        </p:txBody>
      </p:sp>
      <p:pic>
        <p:nvPicPr>
          <p:cNvPr id="11" name="Image 4" descr="preencoded.png">    </p:cNvPr>
          <p:cNvPicPr>
            <a:picLocks noChangeAspect="1"/>
          </p:cNvPicPr>
          <p:nvPr/>
        </p:nvPicPr>
        <p:blipFill>
          <a:blip r:embed="rId5"/>
          <a:stretch>
            <a:fillRect/>
          </a:stretch>
        </p:blipFill>
        <p:spPr>
          <a:xfrm>
            <a:off x="785813" y="2385538"/>
            <a:ext cx="142875" cy="142875"/>
          </a:xfrm>
          <a:prstGeom prst="rect">
            <a:avLst/>
          </a:prstGeom>
        </p:spPr>
      </p:pic>
      <p:sp>
        <p:nvSpPr>
          <p:cNvPr id="12" name="Text 5"/>
          <p:cNvSpPr/>
          <p:nvPr/>
        </p:nvSpPr>
        <p:spPr>
          <a:xfrm>
            <a:off x="1035844" y="2379287"/>
            <a:ext cx="2221706" cy="155377"/>
          </a:xfrm>
          <a:prstGeom prst="rect">
            <a:avLst/>
          </a:prstGeom>
          <a:noFill/>
          <a:ln/>
        </p:spPr>
        <p:txBody>
          <a:bodyPr wrap="none" lIns="0" tIns="0" rIns="0" bIns="0" rtlCol="0" anchor="t">
            <a:spAutoFit/>
          </a:bodyPr>
          <a:lstStyle/>
          <a:p>
            <a:pPr algn="l" indent="0" marL="0">
              <a:lnSpc>
                <a:spcPts val="1200"/>
              </a:lnSpc>
              <a:buNone/>
            </a:pPr>
            <a:r>
              <a:rPr lang="en-US" sz="942" dirty="0">
                <a:solidFill>
                  <a:srgbClr val="1E1B4B"/>
                </a:solidFill>
                <a:latin typeface="Inter" pitchFamily="34" charset="0"/>
                <a:ea typeface="Inter" pitchFamily="34" charset="-122"/>
                <a:cs typeface="Inter" pitchFamily="34" charset="-120"/>
              </a:rPr>
              <a:t>Tối ưu hóa cho đội ngũ nhỏ (1 người)</a:t>
            </a:r>
            <a:endParaRPr lang="en-US" sz="942" dirty="0"/>
          </a:p>
        </p:txBody>
      </p:sp>
      <p:pic>
        <p:nvPicPr>
          <p:cNvPr id="13" name="Image 5" descr="preencoded.png">    </p:cNvPr>
          <p:cNvPicPr>
            <a:picLocks noChangeAspect="1"/>
          </p:cNvPicPr>
          <p:nvPr/>
        </p:nvPicPr>
        <p:blipFill>
          <a:blip r:embed="rId6"/>
          <a:stretch>
            <a:fillRect/>
          </a:stretch>
        </p:blipFill>
        <p:spPr>
          <a:xfrm>
            <a:off x="785813" y="2683790"/>
            <a:ext cx="142875" cy="142875"/>
          </a:xfrm>
          <a:prstGeom prst="rect">
            <a:avLst/>
          </a:prstGeom>
        </p:spPr>
      </p:pic>
      <p:sp>
        <p:nvSpPr>
          <p:cNvPr id="14" name="Text 6"/>
          <p:cNvSpPr/>
          <p:nvPr/>
        </p:nvSpPr>
        <p:spPr>
          <a:xfrm>
            <a:off x="1035844" y="2677539"/>
            <a:ext cx="2100263" cy="155377"/>
          </a:xfrm>
          <a:prstGeom prst="rect">
            <a:avLst/>
          </a:prstGeom>
          <a:noFill/>
          <a:ln/>
        </p:spPr>
        <p:txBody>
          <a:bodyPr wrap="none" lIns="0" tIns="0" rIns="0" bIns="0" rtlCol="0" anchor="t">
            <a:spAutoFit/>
          </a:bodyPr>
          <a:lstStyle/>
          <a:p>
            <a:pPr algn="l" indent="0" marL="0">
              <a:lnSpc>
                <a:spcPts val="1200"/>
              </a:lnSpc>
              <a:buNone/>
            </a:pPr>
            <a:r>
              <a:rPr lang="en-US" sz="942" dirty="0">
                <a:solidFill>
                  <a:srgbClr val="1E1B4B"/>
                </a:solidFill>
                <a:latin typeface="Inter" pitchFamily="34" charset="0"/>
                <a:ea typeface="Inter" pitchFamily="34" charset="-122"/>
                <a:cs typeface="Inter" pitchFamily="34" charset="-120"/>
              </a:rPr>
              <a:t>Bàn giao sản phẩm sớm và liên tục</a:t>
            </a:r>
            <a:endParaRPr lang="en-US" sz="942" dirty="0"/>
          </a:p>
        </p:txBody>
      </p:sp>
      <p:sp>
        <p:nvSpPr>
          <p:cNvPr id="15" name="Text 7"/>
          <p:cNvSpPr/>
          <p:nvPr/>
        </p:nvSpPr>
        <p:spPr>
          <a:xfrm>
            <a:off x="571500" y="3404415"/>
            <a:ext cx="3714750"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4F46E5"/>
                </a:solidFill>
                <a:latin typeface="Inter" pitchFamily="34" charset="0"/>
                <a:ea typeface="Inter" pitchFamily="34" charset="-122"/>
                <a:cs typeface="Inter" pitchFamily="34" charset="-120"/>
              </a:rPr>
              <a:t>Nhân sự dự án:</a:t>
            </a:r>
            <a:r>
              <a:rPr lang="en-US" sz="834" dirty="0">
                <a:solidFill>
                  <a:srgbClr val="1E1B4B"/>
                </a:solidFill>
                <a:latin typeface="Inter" pitchFamily="34" charset="0"/>
                <a:ea typeface="Inter" pitchFamily="34" charset="-122"/>
                <a:cs typeface="Inter" pitchFamily="34" charset="-120"/>
              </a:rPr>
              <a:t> Vũ Xuân Dự</a:t>
            </a:r>
            <a:endParaRPr lang="en-US" sz="784" dirty="0"/>
          </a:p>
        </p:txBody>
      </p:sp>
      <p:sp>
        <p:nvSpPr>
          <p:cNvPr id="16" name="Text 8"/>
          <p:cNvSpPr/>
          <p:nvPr/>
        </p:nvSpPr>
        <p:spPr>
          <a:xfrm>
            <a:off x="571500" y="3701579"/>
            <a:ext cx="37147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1E1B4B"/>
                </a:solidFill>
                <a:latin typeface="Inter" pitchFamily="34" charset="0"/>
                <a:ea typeface="Inter" pitchFamily="34" charset="-122"/>
                <a:cs typeface="Inter" pitchFamily="34" charset="-120"/>
              </a:rPr>
              <a:t>Đảm nhiệm đồng thời các vai trò: </a:t>
            </a:r>
            <a:r>
              <a:rPr lang="en-US" sz="784" b="1" dirty="0">
                <a:solidFill>
                  <a:srgbClr val="4F46E5"/>
                </a:solidFill>
                <a:latin typeface="Inter" pitchFamily="34" charset="0"/>
                <a:ea typeface="Inter" pitchFamily="34" charset="-122"/>
                <a:cs typeface="Inter" pitchFamily="34" charset="-120"/>
              </a:rPr>
              <a:t>Product Owner</a:t>
            </a:r>
            <a:r>
              <a:rPr lang="en-US" sz="834" dirty="0">
                <a:solidFill>
                  <a:srgbClr val="1E1B4B"/>
                </a:solidFill>
                <a:latin typeface="Inter" pitchFamily="34" charset="0"/>
                <a:ea typeface="Inter" pitchFamily="34" charset="-122"/>
                <a:cs typeface="Inter" pitchFamily="34" charset="-120"/>
              </a:rPr>
              <a:t>, </a:t>
            </a:r>
            <a:r>
              <a:rPr lang="en-US" sz="784" b="1" dirty="0">
                <a:solidFill>
                  <a:srgbClr val="4F46E5"/>
                </a:solidFill>
                <a:latin typeface="Inter" pitchFamily="34" charset="0"/>
                <a:ea typeface="Inter" pitchFamily="34" charset="-122"/>
                <a:cs typeface="Inter" pitchFamily="34" charset="-120"/>
              </a:rPr>
              <a:t>Scrum Master</a:t>
            </a:r>
            <a:r>
              <a:rPr lang="en-US" sz="834" dirty="0">
                <a:solidFill>
                  <a:srgbClr val="1E1B4B"/>
                </a:solidFill>
                <a:latin typeface="Inter" pitchFamily="34" charset="0"/>
                <a:ea typeface="Inter" pitchFamily="34" charset="-122"/>
                <a:cs typeface="Inter" pitchFamily="34" charset="-120"/>
              </a:rPr>
              <a:t> và </a:t>
            </a:r>
            <a:r>
              <a:rPr lang="en-US" sz="784" b="1" dirty="0">
                <a:solidFill>
                  <a:srgbClr val="4F46E5"/>
                </a:solidFill>
                <a:latin typeface="Inter" pitchFamily="34" charset="0"/>
                <a:ea typeface="Inter" pitchFamily="34" charset="-122"/>
                <a:cs typeface="Inter" pitchFamily="34" charset="-120"/>
              </a:rPr>
              <a:t>Developer</a:t>
            </a:r>
            <a:r>
              <a:rPr lang="en-US" sz="834" dirty="0">
                <a:solidFill>
                  <a:srgbClr val="1E1B4B"/>
                </a:solidFill>
                <a:latin typeface="Inter" pitchFamily="34" charset="0"/>
                <a:ea typeface="Inter" pitchFamily="34" charset="-122"/>
                <a:cs typeface="Inter" pitchFamily="34" charset="-120"/>
              </a:rPr>
              <a:t> dưới sự hướng dẫn của ThS. Nguyễn Sơn Tùng.</a:t>
            </a:r>
            <a:endParaRPr lang="en-US" sz="834" dirty="0"/>
          </a:p>
        </p:txBody>
      </p:sp>
      <p:pic>
        <p:nvPicPr>
          <p:cNvPr id="17" name="Image 6" descr="preencoded.png">    </p:cNvPr>
          <p:cNvPicPr>
            <a:picLocks noChangeAspect="1"/>
          </p:cNvPicPr>
          <p:nvPr/>
        </p:nvPicPr>
        <p:blipFill>
          <a:blip r:embed="rId7"/>
          <a:stretch>
            <a:fillRect/>
          </a:stretch>
        </p:blipFill>
        <p:spPr>
          <a:xfrm>
            <a:off x="4857750" y="1200569"/>
            <a:ext cx="214313" cy="171450"/>
          </a:xfrm>
          <a:prstGeom prst="rect">
            <a:avLst/>
          </a:prstGeom>
        </p:spPr>
      </p:pic>
      <p:sp>
        <p:nvSpPr>
          <p:cNvPr id="18" name="Text 9"/>
          <p:cNvSpPr/>
          <p:nvPr/>
        </p:nvSpPr>
        <p:spPr>
          <a:xfrm>
            <a:off x="5179219" y="1182709"/>
            <a:ext cx="1637705"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E1B4B"/>
                </a:solidFill>
                <a:latin typeface="Inter" pitchFamily="34" charset="0"/>
                <a:ea typeface="Inter" pitchFamily="34" charset="-122"/>
                <a:cs typeface="Inter" pitchFamily="34" charset="-120"/>
              </a:rPr>
              <a:t>Công nghệ sử dụng</a:t>
            </a:r>
            <a:endParaRPr lang="en-US" sz="1193" dirty="0"/>
          </a:p>
        </p:txBody>
      </p:sp>
      <p:sp>
        <p:nvSpPr>
          <p:cNvPr id="19" name="Text 10"/>
          <p:cNvSpPr/>
          <p:nvPr/>
        </p:nvSpPr>
        <p:spPr>
          <a:xfrm>
            <a:off x="4857750" y="1663126"/>
            <a:ext cx="85725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4F46E5"/>
                </a:solidFill>
                <a:latin typeface="Inter" pitchFamily="34" charset="0"/>
                <a:ea typeface="Inter" pitchFamily="34" charset="-122"/>
                <a:cs typeface="Inter" pitchFamily="34" charset="-120"/>
              </a:rPr>
              <a:t>BACKEND</a:t>
            </a:r>
            <a:endParaRPr lang="en-US" sz="784" dirty="0"/>
          </a:p>
        </p:txBody>
      </p:sp>
      <p:sp>
        <p:nvSpPr>
          <p:cNvPr id="20" name="Shape 11"/>
          <p:cNvSpPr/>
          <p:nvPr/>
        </p:nvSpPr>
        <p:spPr>
          <a:xfrm>
            <a:off x="5715000" y="1568472"/>
            <a:ext cx="2857500" cy="326827"/>
          </a:xfrm>
          <a:prstGeom prst="rect">
            <a:avLst/>
          </a:prstGeom>
          <a:solidFill>
            <a:srgbClr val="1E1B4B"/>
          </a:solidFill>
          <a:ln/>
        </p:spPr>
      </p:sp>
      <p:sp>
        <p:nvSpPr>
          <p:cNvPr id="21" name="Text 12"/>
          <p:cNvSpPr/>
          <p:nvPr/>
        </p:nvSpPr>
        <p:spPr>
          <a:xfrm>
            <a:off x="5715000" y="1568472"/>
            <a:ext cx="2857500" cy="326827"/>
          </a:xfrm>
          <a:prstGeom prst="rect">
            <a:avLst/>
          </a:prstGeom>
          <a:noFill/>
          <a:ln/>
        </p:spPr>
        <p:txBody>
          <a:bodyPr wrap="square" lIns="170053" tIns="102108" rIns="170053" bIns="102108"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Java 21 + Spring Boot 4.0.1</a:t>
            </a:r>
            <a:endParaRPr lang="en-US" sz="885" dirty="0"/>
          </a:p>
        </p:txBody>
      </p:sp>
      <p:sp>
        <p:nvSpPr>
          <p:cNvPr id="22" name="Text 13"/>
          <p:cNvSpPr/>
          <p:nvPr/>
        </p:nvSpPr>
        <p:spPr>
          <a:xfrm>
            <a:off x="4857750" y="2168547"/>
            <a:ext cx="85725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4F46E5"/>
                </a:solidFill>
                <a:latin typeface="Inter" pitchFamily="34" charset="0"/>
                <a:ea typeface="Inter" pitchFamily="34" charset="-122"/>
                <a:cs typeface="Inter" pitchFamily="34" charset="-120"/>
              </a:rPr>
              <a:t>FRONTEND</a:t>
            </a:r>
            <a:endParaRPr lang="en-US" sz="784" dirty="0"/>
          </a:p>
        </p:txBody>
      </p:sp>
      <p:sp>
        <p:nvSpPr>
          <p:cNvPr id="23" name="Shape 14"/>
          <p:cNvSpPr/>
          <p:nvPr/>
        </p:nvSpPr>
        <p:spPr>
          <a:xfrm>
            <a:off x="5715000" y="2073892"/>
            <a:ext cx="2857500" cy="326827"/>
          </a:xfrm>
          <a:prstGeom prst="rect">
            <a:avLst/>
          </a:prstGeom>
          <a:solidFill>
            <a:srgbClr val="1E1B4B"/>
          </a:solidFill>
          <a:ln/>
        </p:spPr>
      </p:sp>
      <p:sp>
        <p:nvSpPr>
          <p:cNvPr id="24" name="Text 15"/>
          <p:cNvSpPr/>
          <p:nvPr/>
        </p:nvSpPr>
        <p:spPr>
          <a:xfrm>
            <a:off x="5715000" y="2073892"/>
            <a:ext cx="2857500" cy="326827"/>
          </a:xfrm>
          <a:prstGeom prst="rect">
            <a:avLst/>
          </a:prstGeom>
          <a:noFill/>
          <a:ln/>
        </p:spPr>
        <p:txBody>
          <a:bodyPr wrap="square" lIns="170053" tIns="102108" rIns="170053" bIns="102108"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React + Vite + Material Tailwind</a:t>
            </a:r>
            <a:endParaRPr lang="en-US" sz="885" dirty="0"/>
          </a:p>
        </p:txBody>
      </p:sp>
      <p:sp>
        <p:nvSpPr>
          <p:cNvPr id="25" name="Text 16"/>
          <p:cNvSpPr/>
          <p:nvPr/>
        </p:nvSpPr>
        <p:spPr>
          <a:xfrm>
            <a:off x="4857750" y="2673967"/>
            <a:ext cx="85725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4F46E5"/>
                </a:solidFill>
                <a:latin typeface="Inter" pitchFamily="34" charset="0"/>
                <a:ea typeface="Inter" pitchFamily="34" charset="-122"/>
                <a:cs typeface="Inter" pitchFamily="34" charset="-120"/>
              </a:rPr>
              <a:t>DATABASE</a:t>
            </a:r>
            <a:endParaRPr lang="en-US" sz="784" dirty="0"/>
          </a:p>
        </p:txBody>
      </p:sp>
      <p:sp>
        <p:nvSpPr>
          <p:cNvPr id="26" name="Shape 17"/>
          <p:cNvSpPr/>
          <p:nvPr/>
        </p:nvSpPr>
        <p:spPr>
          <a:xfrm>
            <a:off x="5715000" y="2579312"/>
            <a:ext cx="2857500" cy="326827"/>
          </a:xfrm>
          <a:prstGeom prst="rect">
            <a:avLst/>
          </a:prstGeom>
          <a:solidFill>
            <a:srgbClr val="1E1B4B"/>
          </a:solidFill>
          <a:ln/>
        </p:spPr>
      </p:sp>
      <p:sp>
        <p:nvSpPr>
          <p:cNvPr id="27" name="Text 18"/>
          <p:cNvSpPr/>
          <p:nvPr/>
        </p:nvSpPr>
        <p:spPr>
          <a:xfrm>
            <a:off x="5715000" y="2579312"/>
            <a:ext cx="2857500" cy="326827"/>
          </a:xfrm>
          <a:prstGeom prst="rect">
            <a:avLst/>
          </a:prstGeom>
          <a:noFill/>
          <a:ln/>
        </p:spPr>
        <p:txBody>
          <a:bodyPr wrap="square" lIns="170053" tIns="102108" rIns="170053" bIns="102108"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PostgreSQL + Flyway Migration</a:t>
            </a:r>
            <a:endParaRPr lang="en-US" sz="885" dirty="0"/>
          </a:p>
        </p:txBody>
      </p:sp>
      <p:sp>
        <p:nvSpPr>
          <p:cNvPr id="28" name="Text 19"/>
          <p:cNvSpPr/>
          <p:nvPr/>
        </p:nvSpPr>
        <p:spPr>
          <a:xfrm>
            <a:off x="4857750" y="3179387"/>
            <a:ext cx="85725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4F46E5"/>
                </a:solidFill>
                <a:latin typeface="Inter" pitchFamily="34" charset="0"/>
                <a:ea typeface="Inter" pitchFamily="34" charset="-122"/>
                <a:cs typeface="Inter" pitchFamily="34" charset="-120"/>
              </a:rPr>
              <a:t>SECURITY</a:t>
            </a:r>
            <a:endParaRPr lang="en-US" sz="784" dirty="0"/>
          </a:p>
        </p:txBody>
      </p:sp>
      <p:sp>
        <p:nvSpPr>
          <p:cNvPr id="29" name="Shape 20"/>
          <p:cNvSpPr/>
          <p:nvPr/>
        </p:nvSpPr>
        <p:spPr>
          <a:xfrm>
            <a:off x="5715000" y="3084733"/>
            <a:ext cx="2857500" cy="326827"/>
          </a:xfrm>
          <a:prstGeom prst="rect">
            <a:avLst/>
          </a:prstGeom>
          <a:solidFill>
            <a:srgbClr val="1E1B4B"/>
          </a:solidFill>
          <a:ln/>
        </p:spPr>
      </p:sp>
      <p:sp>
        <p:nvSpPr>
          <p:cNvPr id="30" name="Text 21"/>
          <p:cNvSpPr/>
          <p:nvPr/>
        </p:nvSpPr>
        <p:spPr>
          <a:xfrm>
            <a:off x="5715000" y="3084733"/>
            <a:ext cx="2857500" cy="326827"/>
          </a:xfrm>
          <a:prstGeom prst="rect">
            <a:avLst/>
          </a:prstGeom>
          <a:noFill/>
          <a:ln/>
        </p:spPr>
        <p:txBody>
          <a:bodyPr wrap="square" lIns="170053" tIns="102108" rIns="170053" bIns="102108"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JWT + Spring Security (RBAC)</a:t>
            </a:r>
            <a:endParaRPr lang="en-US" sz="885" dirty="0"/>
          </a:p>
        </p:txBody>
      </p:sp>
      <p:pic>
        <p:nvPicPr>
          <p:cNvPr id="31" name="Image 7" descr="preencoded.png">    </p:cNvPr>
          <p:cNvPicPr>
            <a:picLocks noChangeAspect="1"/>
          </p:cNvPicPr>
          <p:nvPr/>
        </p:nvPicPr>
        <p:blipFill>
          <a:blip r:embed="rId8"/>
          <a:stretch>
            <a:fillRect/>
          </a:stretch>
        </p:blipFill>
        <p:spPr>
          <a:xfrm>
            <a:off x="5882878" y="3729456"/>
            <a:ext cx="257175" cy="342900"/>
          </a:xfrm>
          <a:prstGeom prst="rect">
            <a:avLst/>
          </a:prstGeom>
        </p:spPr>
      </p:pic>
      <p:pic>
        <p:nvPicPr>
          <p:cNvPr id="32" name="Image 8" descr="preencoded.png">    </p:cNvPr>
          <p:cNvPicPr>
            <a:picLocks noChangeAspect="1"/>
          </p:cNvPicPr>
          <p:nvPr/>
        </p:nvPicPr>
        <p:blipFill>
          <a:blip r:embed="rId9"/>
          <a:stretch>
            <a:fillRect/>
          </a:stretch>
        </p:blipFill>
        <p:spPr>
          <a:xfrm>
            <a:off x="6522244" y="3729456"/>
            <a:ext cx="342900" cy="342900"/>
          </a:xfrm>
          <a:prstGeom prst="rect">
            <a:avLst/>
          </a:prstGeom>
        </p:spPr>
      </p:pic>
      <p:pic>
        <p:nvPicPr>
          <p:cNvPr id="33" name="Image 9" descr="preencoded.png">    </p:cNvPr>
          <p:cNvPicPr>
            <a:picLocks noChangeAspect="1"/>
          </p:cNvPicPr>
          <p:nvPr/>
        </p:nvPicPr>
        <p:blipFill>
          <a:blip r:embed="rId10"/>
          <a:stretch>
            <a:fillRect/>
          </a:stretch>
        </p:blipFill>
        <p:spPr>
          <a:xfrm>
            <a:off x="7247334" y="3729456"/>
            <a:ext cx="300038" cy="342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4. KẾ HOẠCH SPRINT (PRODUCT BACKLOG)</a:t>
            </a:r>
            <a:endParaRPr lang="en-US" sz="1602" dirty="0"/>
          </a:p>
        </p:txBody>
      </p:sp>
      <p:pic>
        <p:nvPicPr>
          <p:cNvPr id="4" name="Image 1" descr="preencoded.png">    </p:cNvPr>
          <p:cNvPicPr>
            <a:picLocks noChangeAspect="1"/>
          </p:cNvPicPr>
          <p:nvPr/>
        </p:nvPicPr>
        <p:blipFill>
          <a:blip r:embed="rId2"/>
          <a:stretch>
            <a:fillRect/>
          </a:stretch>
        </p:blipFill>
        <p:spPr>
          <a:xfrm>
            <a:off x="571500" y="1127345"/>
            <a:ext cx="137517" cy="157163"/>
          </a:xfrm>
          <a:prstGeom prst="rect">
            <a:avLst/>
          </a:prstGeom>
        </p:spPr>
      </p:pic>
      <p:sp>
        <p:nvSpPr>
          <p:cNvPr id="5" name="Text 1"/>
          <p:cNvSpPr/>
          <p:nvPr/>
        </p:nvSpPr>
        <p:spPr>
          <a:xfrm>
            <a:off x="794742" y="1111272"/>
            <a:ext cx="2064544"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Lộ trình phát triển (Sprints)</a:t>
            </a:r>
            <a:endParaRPr lang="en-US" sz="1090" dirty="0"/>
          </a:p>
        </p:txBody>
      </p:sp>
      <p:sp>
        <p:nvSpPr>
          <p:cNvPr id="6" name="Shape 2"/>
          <p:cNvSpPr/>
          <p:nvPr/>
        </p:nvSpPr>
        <p:spPr>
          <a:xfrm>
            <a:off x="571500" y="1443456"/>
            <a:ext cx="785813" cy="264319"/>
          </a:xfrm>
          <a:prstGeom prst="rect">
            <a:avLst/>
          </a:prstGeom>
          <a:solidFill>
            <a:srgbClr val="1E1B4B"/>
          </a:solidFill>
          <a:ln/>
        </p:spPr>
      </p:sp>
      <p:sp>
        <p:nvSpPr>
          <p:cNvPr id="7" name="Text 3"/>
          <p:cNvSpPr/>
          <p:nvPr/>
        </p:nvSpPr>
        <p:spPr>
          <a:xfrm>
            <a:off x="571500" y="1443456"/>
            <a:ext cx="785813" cy="264319"/>
          </a:xfrm>
          <a:prstGeom prst="rect">
            <a:avLst/>
          </a:prstGeom>
          <a:noFill/>
          <a:ln/>
        </p:spPr>
        <p:txBody>
          <a:bodyPr wrap="square" lIns="127508" tIns="85090" rIns="127508" bIns="85090" rtlCol="0" anchor="ctr">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Sprint</a:t>
            </a:r>
            <a:endParaRPr lang="en-US" sz="683" dirty="0"/>
          </a:p>
        </p:txBody>
      </p:sp>
      <p:sp>
        <p:nvSpPr>
          <p:cNvPr id="8" name="Shape 4"/>
          <p:cNvSpPr/>
          <p:nvPr/>
        </p:nvSpPr>
        <p:spPr>
          <a:xfrm>
            <a:off x="1357313" y="1443456"/>
            <a:ext cx="3422498" cy="264319"/>
          </a:xfrm>
          <a:prstGeom prst="rect">
            <a:avLst/>
          </a:prstGeom>
          <a:solidFill>
            <a:srgbClr val="1E1B4B"/>
          </a:solidFill>
          <a:ln/>
        </p:spPr>
      </p:sp>
      <p:sp>
        <p:nvSpPr>
          <p:cNvPr id="9" name="Text 5"/>
          <p:cNvSpPr/>
          <p:nvPr/>
        </p:nvSpPr>
        <p:spPr>
          <a:xfrm>
            <a:off x="1357313" y="1443456"/>
            <a:ext cx="3422498" cy="264319"/>
          </a:xfrm>
          <a:prstGeom prst="rect">
            <a:avLst/>
          </a:prstGeom>
          <a:noFill/>
          <a:ln/>
        </p:spPr>
        <p:txBody>
          <a:bodyPr wrap="square" lIns="127508" tIns="85090" rIns="127508" bIns="85090" rtlCol="0" anchor="ctr">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Mục tiêu &amp; Tính năng chính</a:t>
            </a:r>
            <a:endParaRPr lang="en-US" sz="683" dirty="0"/>
          </a:p>
        </p:txBody>
      </p:sp>
      <p:sp>
        <p:nvSpPr>
          <p:cNvPr id="10" name="Text 6"/>
          <p:cNvSpPr/>
          <p:nvPr/>
        </p:nvSpPr>
        <p:spPr>
          <a:xfrm>
            <a:off x="571500" y="1707775"/>
            <a:ext cx="785813" cy="417909"/>
          </a:xfrm>
          <a:prstGeom prst="rect">
            <a:avLst/>
          </a:prstGeom>
          <a:noFill/>
          <a:ln/>
        </p:spPr>
        <p:txBody>
          <a:bodyPr wrap="square" lIns="127508" tIns="102108" rIns="127508" bIns="102108" rtlCol="0" anchor="t">
            <a:spAutoFit/>
          </a:bodyPr>
          <a:lstStyle/>
          <a:p>
            <a:pPr algn="l" indent="0" marL="0">
              <a:lnSpc>
                <a:spcPts val="900"/>
              </a:lnSpc>
              <a:buNone/>
            </a:pPr>
            <a:r>
              <a:rPr lang="en-US" sz="683" b="1" dirty="0">
                <a:solidFill>
                  <a:srgbClr val="4F46E5"/>
                </a:solidFill>
                <a:latin typeface="Inter" pitchFamily="34" charset="0"/>
                <a:ea typeface="Inter" pitchFamily="34" charset="-122"/>
                <a:cs typeface="Inter" pitchFamily="34" charset="-120"/>
              </a:rPr>
              <a:t>Sprint 1</a:t>
            </a:r>
            <a:endParaRPr lang="en-US" sz="683" dirty="0"/>
          </a:p>
        </p:txBody>
      </p:sp>
      <p:sp>
        <p:nvSpPr>
          <p:cNvPr id="11" name="Text 7"/>
          <p:cNvSpPr/>
          <p:nvPr/>
        </p:nvSpPr>
        <p:spPr>
          <a:xfrm>
            <a:off x="1464469" y="1793500"/>
            <a:ext cx="584002"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E1B4B"/>
                </a:solidFill>
                <a:latin typeface="Inter" pitchFamily="34" charset="0"/>
                <a:ea typeface="Inter" pitchFamily="34" charset="-122"/>
                <a:cs typeface="Inter" pitchFamily="34" charset="-120"/>
              </a:rPr>
              <a:t>Foundation:</a:t>
            </a:r>
            <a:endParaRPr lang="en-US" sz="683" dirty="0"/>
          </a:p>
        </p:txBody>
      </p:sp>
      <p:sp>
        <p:nvSpPr>
          <p:cNvPr id="12" name="Text 8"/>
          <p:cNvSpPr/>
          <p:nvPr/>
        </p:nvSpPr>
        <p:spPr>
          <a:xfrm>
            <a:off x="1464469" y="1793500"/>
            <a:ext cx="2927152"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Thiết lập Project, DB Schema, Auth (JWT), CRUD Phòng &amp; Cư dân.</a:t>
            </a:r>
            <a:endParaRPr lang="en-US" sz="727" dirty="0"/>
          </a:p>
        </p:txBody>
      </p:sp>
      <p:sp>
        <p:nvSpPr>
          <p:cNvPr id="13" name="Text 9"/>
          <p:cNvSpPr/>
          <p:nvPr/>
        </p:nvSpPr>
        <p:spPr>
          <a:xfrm>
            <a:off x="571500" y="2125684"/>
            <a:ext cx="785813" cy="421481"/>
          </a:xfrm>
          <a:prstGeom prst="rect">
            <a:avLst/>
          </a:prstGeom>
          <a:noFill/>
          <a:ln/>
        </p:spPr>
        <p:txBody>
          <a:bodyPr wrap="square" lIns="127508" tIns="102108" rIns="127508" bIns="102108" rtlCol="0" anchor="t">
            <a:spAutoFit/>
          </a:bodyPr>
          <a:lstStyle/>
          <a:p>
            <a:pPr algn="l" indent="0" marL="0">
              <a:lnSpc>
                <a:spcPts val="900"/>
              </a:lnSpc>
              <a:buNone/>
            </a:pPr>
            <a:r>
              <a:rPr lang="en-US" sz="683" b="1" dirty="0">
                <a:solidFill>
                  <a:srgbClr val="4F46E5"/>
                </a:solidFill>
                <a:latin typeface="Inter" pitchFamily="34" charset="0"/>
                <a:ea typeface="Inter" pitchFamily="34" charset="-122"/>
                <a:cs typeface="Inter" pitchFamily="34" charset="-120"/>
              </a:rPr>
              <a:t>Sprint 2</a:t>
            </a:r>
            <a:endParaRPr lang="en-US" sz="683" dirty="0"/>
          </a:p>
        </p:txBody>
      </p:sp>
      <p:sp>
        <p:nvSpPr>
          <p:cNvPr id="14" name="Text 10"/>
          <p:cNvSpPr/>
          <p:nvPr/>
        </p:nvSpPr>
        <p:spPr>
          <a:xfrm>
            <a:off x="1464469" y="2214981"/>
            <a:ext cx="732234"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E1B4B"/>
                </a:solidFill>
                <a:latin typeface="Inter" pitchFamily="34" charset="0"/>
                <a:ea typeface="Inter" pitchFamily="34" charset="-122"/>
                <a:cs typeface="Inter" pitchFamily="34" charset="-120"/>
              </a:rPr>
              <a:t>Core Business:</a:t>
            </a:r>
            <a:endParaRPr lang="en-US" sz="683" dirty="0"/>
          </a:p>
        </p:txBody>
      </p:sp>
      <p:sp>
        <p:nvSpPr>
          <p:cNvPr id="15" name="Text 11"/>
          <p:cNvSpPr/>
          <p:nvPr/>
        </p:nvSpPr>
        <p:spPr>
          <a:xfrm>
            <a:off x="1464469" y="2214981"/>
            <a:ext cx="3114675"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CRUD Hợp đồng, Hóa đơn, Ghi chỉ số điện nước &amp; Tính tiền tự động.</a:t>
            </a:r>
            <a:endParaRPr lang="en-US" sz="727" dirty="0"/>
          </a:p>
        </p:txBody>
      </p:sp>
      <p:sp>
        <p:nvSpPr>
          <p:cNvPr id="16" name="Text 12"/>
          <p:cNvSpPr/>
          <p:nvPr/>
        </p:nvSpPr>
        <p:spPr>
          <a:xfrm>
            <a:off x="571500" y="2547165"/>
            <a:ext cx="785813" cy="421481"/>
          </a:xfrm>
          <a:prstGeom prst="rect">
            <a:avLst/>
          </a:prstGeom>
          <a:noFill/>
          <a:ln/>
        </p:spPr>
        <p:txBody>
          <a:bodyPr wrap="square" lIns="127508" tIns="102108" rIns="127508" bIns="102108" rtlCol="0" anchor="t">
            <a:spAutoFit/>
          </a:bodyPr>
          <a:lstStyle/>
          <a:p>
            <a:pPr algn="l" indent="0" marL="0">
              <a:lnSpc>
                <a:spcPts val="900"/>
              </a:lnSpc>
              <a:buNone/>
            </a:pPr>
            <a:r>
              <a:rPr lang="en-US" sz="683" b="1" dirty="0">
                <a:solidFill>
                  <a:srgbClr val="4F46E5"/>
                </a:solidFill>
                <a:latin typeface="Inter" pitchFamily="34" charset="0"/>
                <a:ea typeface="Inter" pitchFamily="34" charset="-122"/>
                <a:cs typeface="Inter" pitchFamily="34" charset="-120"/>
              </a:rPr>
              <a:t>Sprint 3</a:t>
            </a:r>
            <a:endParaRPr lang="en-US" sz="683" dirty="0"/>
          </a:p>
        </p:txBody>
      </p:sp>
      <p:sp>
        <p:nvSpPr>
          <p:cNvPr id="17" name="Text 13"/>
          <p:cNvSpPr/>
          <p:nvPr/>
        </p:nvSpPr>
        <p:spPr>
          <a:xfrm>
            <a:off x="1464469" y="2636462"/>
            <a:ext cx="580430"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E1B4B"/>
                </a:solidFill>
                <a:latin typeface="Inter" pitchFamily="34" charset="0"/>
                <a:ea typeface="Inter" pitchFamily="34" charset="-122"/>
                <a:cs typeface="Inter" pitchFamily="34" charset="-120"/>
              </a:rPr>
              <a:t>Supporting:</a:t>
            </a:r>
            <a:endParaRPr lang="en-US" sz="683" dirty="0"/>
          </a:p>
        </p:txBody>
      </p:sp>
      <p:sp>
        <p:nvSpPr>
          <p:cNvPr id="18" name="Text 14"/>
          <p:cNvSpPr/>
          <p:nvPr/>
        </p:nvSpPr>
        <p:spPr>
          <a:xfrm>
            <a:off x="1464469" y="2636462"/>
            <a:ext cx="3195042"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Quản lý tài sản phòng, Yêu cầu sửa chữa (Tickets), Gửi thông báo &amp; Nhắc nợ.</a:t>
            </a:r>
            <a:endParaRPr lang="en-US" sz="727" dirty="0"/>
          </a:p>
        </p:txBody>
      </p:sp>
      <p:sp>
        <p:nvSpPr>
          <p:cNvPr id="19" name="Text 15"/>
          <p:cNvSpPr/>
          <p:nvPr/>
        </p:nvSpPr>
        <p:spPr>
          <a:xfrm>
            <a:off x="571500" y="2968647"/>
            <a:ext cx="785813" cy="421481"/>
          </a:xfrm>
          <a:prstGeom prst="rect">
            <a:avLst/>
          </a:prstGeom>
          <a:noFill/>
          <a:ln/>
        </p:spPr>
        <p:txBody>
          <a:bodyPr wrap="square" lIns="127508" tIns="102108" rIns="127508" bIns="102108" rtlCol="0" anchor="t">
            <a:spAutoFit/>
          </a:bodyPr>
          <a:lstStyle/>
          <a:p>
            <a:pPr algn="l" indent="0" marL="0">
              <a:lnSpc>
                <a:spcPts val="900"/>
              </a:lnSpc>
              <a:buNone/>
            </a:pPr>
            <a:r>
              <a:rPr lang="en-US" sz="683" b="1" dirty="0">
                <a:solidFill>
                  <a:srgbClr val="4F46E5"/>
                </a:solidFill>
                <a:latin typeface="Inter" pitchFamily="34" charset="0"/>
                <a:ea typeface="Inter" pitchFamily="34" charset="-122"/>
                <a:cs typeface="Inter" pitchFamily="34" charset="-120"/>
              </a:rPr>
              <a:t>Sprint 4</a:t>
            </a:r>
            <a:endParaRPr lang="en-US" sz="683" dirty="0"/>
          </a:p>
        </p:txBody>
      </p:sp>
      <p:sp>
        <p:nvSpPr>
          <p:cNvPr id="20" name="Text 16"/>
          <p:cNvSpPr/>
          <p:nvPr/>
        </p:nvSpPr>
        <p:spPr>
          <a:xfrm>
            <a:off x="1464469" y="3057944"/>
            <a:ext cx="532209"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E1B4B"/>
                </a:solidFill>
                <a:latin typeface="Inter" pitchFamily="34" charset="0"/>
                <a:ea typeface="Inter" pitchFamily="34" charset="-122"/>
                <a:cs typeface="Inter" pitchFamily="34" charset="-120"/>
              </a:rPr>
              <a:t>Advanced:</a:t>
            </a:r>
            <a:endParaRPr lang="en-US" sz="683" dirty="0"/>
          </a:p>
        </p:txBody>
      </p:sp>
      <p:sp>
        <p:nvSpPr>
          <p:cNvPr id="21" name="Text 17"/>
          <p:cNvSpPr/>
          <p:nvPr/>
        </p:nvSpPr>
        <p:spPr>
          <a:xfrm>
            <a:off x="1464469" y="3057944"/>
            <a:ext cx="3171825"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Dashboard thống kê, Cổng cư dân (Portal), Phân quyền RBAC hoàn chỉnh.</a:t>
            </a:r>
            <a:endParaRPr lang="en-US" sz="727" dirty="0"/>
          </a:p>
        </p:txBody>
      </p:sp>
      <p:sp>
        <p:nvSpPr>
          <p:cNvPr id="22" name="Text 18"/>
          <p:cNvSpPr/>
          <p:nvPr/>
        </p:nvSpPr>
        <p:spPr>
          <a:xfrm>
            <a:off x="571500" y="3390128"/>
            <a:ext cx="785813" cy="421481"/>
          </a:xfrm>
          <a:prstGeom prst="rect">
            <a:avLst/>
          </a:prstGeom>
          <a:noFill/>
          <a:ln/>
        </p:spPr>
        <p:txBody>
          <a:bodyPr wrap="square" lIns="127508" tIns="102108" rIns="127508" bIns="102108" rtlCol="0" anchor="t">
            <a:spAutoFit/>
          </a:bodyPr>
          <a:lstStyle/>
          <a:p>
            <a:pPr algn="l" indent="0" marL="0">
              <a:lnSpc>
                <a:spcPts val="900"/>
              </a:lnSpc>
              <a:buNone/>
            </a:pPr>
            <a:r>
              <a:rPr lang="en-US" sz="683" b="1" dirty="0">
                <a:solidFill>
                  <a:srgbClr val="4F46E5"/>
                </a:solidFill>
                <a:latin typeface="Inter" pitchFamily="34" charset="0"/>
                <a:ea typeface="Inter" pitchFamily="34" charset="-122"/>
                <a:cs typeface="Inter" pitchFamily="34" charset="-120"/>
              </a:rPr>
              <a:t>Sprint 5</a:t>
            </a:r>
            <a:endParaRPr lang="en-US" sz="683" dirty="0"/>
          </a:p>
        </p:txBody>
      </p:sp>
      <p:sp>
        <p:nvSpPr>
          <p:cNvPr id="23" name="Text 19"/>
          <p:cNvSpPr/>
          <p:nvPr/>
        </p:nvSpPr>
        <p:spPr>
          <a:xfrm>
            <a:off x="1464469" y="3479425"/>
            <a:ext cx="330398"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E1B4B"/>
                </a:solidFill>
                <a:latin typeface="Inter" pitchFamily="34" charset="0"/>
                <a:ea typeface="Inter" pitchFamily="34" charset="-122"/>
                <a:cs typeface="Inter" pitchFamily="34" charset="-120"/>
              </a:rPr>
              <a:t>Polish:</a:t>
            </a:r>
            <a:endParaRPr lang="en-US" sz="683" dirty="0"/>
          </a:p>
        </p:txBody>
      </p:sp>
      <p:sp>
        <p:nvSpPr>
          <p:cNvPr id="24" name="Text 20"/>
          <p:cNvSpPr/>
          <p:nvPr/>
        </p:nvSpPr>
        <p:spPr>
          <a:xfrm>
            <a:off x="1464469" y="3479425"/>
            <a:ext cx="3116461"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Hoàn thiện UI/UX (Dark Mode), Testing toàn diện &amp; Sửa lỗi (Bug fixes).</a:t>
            </a:r>
            <a:endParaRPr lang="en-US" sz="727" dirty="0"/>
          </a:p>
        </p:txBody>
      </p:sp>
      <p:pic>
        <p:nvPicPr>
          <p:cNvPr id="25" name="Image 2" descr="preencoded.png">    </p:cNvPr>
          <p:cNvPicPr>
            <a:picLocks noChangeAspect="1"/>
          </p:cNvPicPr>
          <p:nvPr/>
        </p:nvPicPr>
        <p:blipFill>
          <a:blip r:embed="rId3"/>
          <a:stretch>
            <a:fillRect/>
          </a:stretch>
        </p:blipFill>
        <p:spPr>
          <a:xfrm>
            <a:off x="5065561" y="1127345"/>
            <a:ext cx="157163" cy="157163"/>
          </a:xfrm>
          <a:prstGeom prst="rect">
            <a:avLst/>
          </a:prstGeom>
        </p:spPr>
      </p:pic>
      <p:sp>
        <p:nvSpPr>
          <p:cNvPr id="26" name="Text 21"/>
          <p:cNvSpPr/>
          <p:nvPr/>
        </p:nvSpPr>
        <p:spPr>
          <a:xfrm>
            <a:off x="5308448" y="1111272"/>
            <a:ext cx="1023342"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Quản lý rủi ro</a:t>
            </a:r>
            <a:endParaRPr lang="en-US" sz="1090" dirty="0"/>
          </a:p>
        </p:txBody>
      </p:sp>
      <p:sp>
        <p:nvSpPr>
          <p:cNvPr id="27" name="Shape 22"/>
          <p:cNvSpPr/>
          <p:nvPr/>
        </p:nvSpPr>
        <p:spPr>
          <a:xfrm>
            <a:off x="5065561" y="1443456"/>
            <a:ext cx="3506939" cy="660071"/>
          </a:xfrm>
          <a:prstGeom prst="rect">
            <a:avLst/>
          </a:prstGeom>
          <a:solidFill>
            <a:srgbClr val="F5F3FF"/>
          </a:solidFill>
          <a:ln/>
        </p:spPr>
      </p:sp>
      <p:sp>
        <p:nvSpPr>
          <p:cNvPr id="28" name="Shape 23"/>
          <p:cNvSpPr/>
          <p:nvPr/>
        </p:nvSpPr>
        <p:spPr>
          <a:xfrm>
            <a:off x="5065561" y="1443456"/>
            <a:ext cx="28575" cy="660071"/>
          </a:xfrm>
          <a:prstGeom prst="rect">
            <a:avLst/>
          </a:prstGeom>
          <a:solidFill>
            <a:srgbClr val="4F46E5"/>
          </a:solidFill>
          <a:ln/>
        </p:spPr>
      </p:sp>
      <p:sp>
        <p:nvSpPr>
          <p:cNvPr id="29" name="Text 24"/>
          <p:cNvSpPr/>
          <p:nvPr/>
        </p:nvSpPr>
        <p:spPr>
          <a:xfrm>
            <a:off x="5172717" y="1550612"/>
            <a:ext cx="1264444"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1E1B4B"/>
                </a:solidFill>
                <a:latin typeface="Inter" pitchFamily="34" charset="0"/>
                <a:ea typeface="Inter" pitchFamily="34" charset="-122"/>
                <a:cs typeface="Inter" pitchFamily="34" charset="-120"/>
              </a:rPr>
              <a:t>Tiến độ dự án (Solo dev)</a:t>
            </a:r>
            <a:endParaRPr lang="en-US" sz="734" dirty="0"/>
          </a:p>
        </p:txBody>
      </p:sp>
      <p:sp>
        <p:nvSpPr>
          <p:cNvPr id="30" name="Text 25"/>
          <p:cNvSpPr/>
          <p:nvPr/>
        </p:nvSpPr>
        <p:spPr>
          <a:xfrm>
            <a:off x="8276034" y="1550612"/>
            <a:ext cx="189309" cy="12858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F4444"/>
                </a:solidFill>
                <a:latin typeface="Inter" pitchFamily="34" charset="0"/>
                <a:ea typeface="Inter" pitchFamily="34" charset="-122"/>
                <a:cs typeface="Inter" pitchFamily="34" charset="-120"/>
              </a:rPr>
              <a:t>CAO</a:t>
            </a:r>
            <a:endParaRPr lang="en-US" sz="584" dirty="0"/>
          </a:p>
        </p:txBody>
      </p:sp>
      <p:sp>
        <p:nvSpPr>
          <p:cNvPr id="31" name="Text 26"/>
          <p:cNvSpPr/>
          <p:nvPr/>
        </p:nvSpPr>
        <p:spPr>
          <a:xfrm>
            <a:off x="5172717" y="1736350"/>
            <a:ext cx="3292627"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4B5563"/>
                </a:solidFill>
                <a:latin typeface="Inter" pitchFamily="34" charset="0"/>
                <a:ea typeface="Inter" pitchFamily="34" charset="-122"/>
                <a:cs typeface="Inter" pitchFamily="34" charset="-120"/>
              </a:rPr>
              <a:t>Ưu tiên tính năng cốt lõi, sử dụng thư viện UI (Material Tailwind) để tăng tốc độ phát triển.</a:t>
            </a:r>
            <a:endParaRPr lang="en-US" sz="674" dirty="0"/>
          </a:p>
        </p:txBody>
      </p:sp>
      <p:sp>
        <p:nvSpPr>
          <p:cNvPr id="32" name="Shape 27"/>
          <p:cNvSpPr/>
          <p:nvPr/>
        </p:nvSpPr>
        <p:spPr>
          <a:xfrm>
            <a:off x="5065561" y="2210684"/>
            <a:ext cx="3506939" cy="660071"/>
          </a:xfrm>
          <a:prstGeom prst="rect">
            <a:avLst/>
          </a:prstGeom>
          <a:solidFill>
            <a:srgbClr val="F5F3FF"/>
          </a:solidFill>
          <a:ln/>
        </p:spPr>
      </p:sp>
      <p:sp>
        <p:nvSpPr>
          <p:cNvPr id="33" name="Shape 28"/>
          <p:cNvSpPr/>
          <p:nvPr/>
        </p:nvSpPr>
        <p:spPr>
          <a:xfrm>
            <a:off x="5065561" y="2210684"/>
            <a:ext cx="28575" cy="660071"/>
          </a:xfrm>
          <a:prstGeom prst="rect">
            <a:avLst/>
          </a:prstGeom>
          <a:solidFill>
            <a:srgbClr val="4F46E5"/>
          </a:solidFill>
          <a:ln/>
        </p:spPr>
      </p:sp>
      <p:sp>
        <p:nvSpPr>
          <p:cNvPr id="34" name="Text 29"/>
          <p:cNvSpPr/>
          <p:nvPr/>
        </p:nvSpPr>
        <p:spPr>
          <a:xfrm>
            <a:off x="5172717" y="2317840"/>
            <a:ext cx="1282303"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1E1B4B"/>
                </a:solidFill>
                <a:latin typeface="Inter" pitchFamily="34" charset="0"/>
                <a:ea typeface="Inter" pitchFamily="34" charset="-122"/>
                <a:cs typeface="Inter" pitchFamily="34" charset="-120"/>
              </a:rPr>
              <a:t>Rò rỉ dữ liệu Multi-tenant</a:t>
            </a:r>
            <a:endParaRPr lang="en-US" sz="734" dirty="0"/>
          </a:p>
        </p:txBody>
      </p:sp>
      <p:sp>
        <p:nvSpPr>
          <p:cNvPr id="35" name="Text 30"/>
          <p:cNvSpPr/>
          <p:nvPr/>
        </p:nvSpPr>
        <p:spPr>
          <a:xfrm>
            <a:off x="8077795" y="2317840"/>
            <a:ext cx="387548" cy="12858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F4444"/>
                </a:solidFill>
                <a:latin typeface="Inter" pitchFamily="34" charset="0"/>
                <a:ea typeface="Inter" pitchFamily="34" charset="-122"/>
                <a:cs typeface="Inter" pitchFamily="34" charset="-120"/>
              </a:rPr>
              <a:t>RẤT CAO</a:t>
            </a:r>
            <a:endParaRPr lang="en-US" sz="584" dirty="0"/>
          </a:p>
        </p:txBody>
      </p:sp>
      <p:sp>
        <p:nvSpPr>
          <p:cNvPr id="36" name="Text 31"/>
          <p:cNvSpPr/>
          <p:nvPr/>
        </p:nvSpPr>
        <p:spPr>
          <a:xfrm>
            <a:off x="5172717" y="2503577"/>
            <a:ext cx="3292627"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4B5563"/>
                </a:solidFill>
                <a:latin typeface="Inter" pitchFamily="34" charset="0"/>
                <a:ea typeface="Inter" pitchFamily="34" charset="-122"/>
                <a:cs typeface="Inter" pitchFamily="34" charset="-120"/>
              </a:rPr>
              <a:t>Sử dụng AOP (Aspect Oriented Programming) để kiểm tra tenant_id trong mọi truy vấn Database.</a:t>
            </a:r>
            <a:endParaRPr lang="en-US" sz="674" dirty="0"/>
          </a:p>
        </p:txBody>
      </p:sp>
      <p:sp>
        <p:nvSpPr>
          <p:cNvPr id="37" name="Shape 32"/>
          <p:cNvSpPr/>
          <p:nvPr/>
        </p:nvSpPr>
        <p:spPr>
          <a:xfrm>
            <a:off x="5065561" y="2977911"/>
            <a:ext cx="3506939" cy="660071"/>
          </a:xfrm>
          <a:prstGeom prst="rect">
            <a:avLst/>
          </a:prstGeom>
          <a:solidFill>
            <a:srgbClr val="F5F3FF"/>
          </a:solidFill>
          <a:ln/>
        </p:spPr>
      </p:sp>
      <p:sp>
        <p:nvSpPr>
          <p:cNvPr id="38" name="Shape 33"/>
          <p:cNvSpPr/>
          <p:nvPr/>
        </p:nvSpPr>
        <p:spPr>
          <a:xfrm>
            <a:off x="5065561" y="2977911"/>
            <a:ext cx="28575" cy="660071"/>
          </a:xfrm>
          <a:prstGeom prst="rect">
            <a:avLst/>
          </a:prstGeom>
          <a:solidFill>
            <a:srgbClr val="4F46E5"/>
          </a:solidFill>
          <a:ln/>
        </p:spPr>
      </p:sp>
      <p:sp>
        <p:nvSpPr>
          <p:cNvPr id="39" name="Text 34"/>
          <p:cNvSpPr/>
          <p:nvPr/>
        </p:nvSpPr>
        <p:spPr>
          <a:xfrm>
            <a:off x="5172717" y="3085068"/>
            <a:ext cx="1171575"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1E1B4B"/>
                </a:solidFill>
                <a:latin typeface="Inter" pitchFamily="34" charset="0"/>
                <a:ea typeface="Inter" pitchFamily="34" charset="-122"/>
                <a:cs typeface="Inter" pitchFamily="34" charset="-120"/>
              </a:rPr>
              <a:t>Bảo mật xác thực JWT</a:t>
            </a:r>
            <a:endParaRPr lang="en-US" sz="734" dirty="0"/>
          </a:p>
        </p:txBody>
      </p:sp>
      <p:sp>
        <p:nvSpPr>
          <p:cNvPr id="40" name="Text 35"/>
          <p:cNvSpPr/>
          <p:nvPr/>
        </p:nvSpPr>
        <p:spPr>
          <a:xfrm>
            <a:off x="7927777" y="3085068"/>
            <a:ext cx="537567" cy="12858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F4444"/>
                </a:solidFill>
                <a:latin typeface="Inter" pitchFamily="34" charset="0"/>
                <a:ea typeface="Inter" pitchFamily="34" charset="-122"/>
                <a:cs typeface="Inter" pitchFamily="34" charset="-120"/>
              </a:rPr>
              <a:t>TRUNG BÌNH</a:t>
            </a:r>
            <a:endParaRPr lang="en-US" sz="584" dirty="0"/>
          </a:p>
        </p:txBody>
      </p:sp>
      <p:sp>
        <p:nvSpPr>
          <p:cNvPr id="41" name="Text 36"/>
          <p:cNvSpPr/>
          <p:nvPr/>
        </p:nvSpPr>
        <p:spPr>
          <a:xfrm>
            <a:off x="5172717" y="3270805"/>
            <a:ext cx="3292627"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4B5563"/>
                </a:solidFill>
                <a:latin typeface="Inter" pitchFamily="34" charset="0"/>
                <a:ea typeface="Inter" pitchFamily="34" charset="-122"/>
                <a:cs typeface="Inter" pitchFamily="34" charset="-120"/>
              </a:rPr>
              <a:t>Mã hóa BCrypt, thiết lập thời gian hết hạn token ngắn và cơ chế Refresh Token an toàn.</a:t>
            </a:r>
            <a:endParaRPr lang="en-US" sz="67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5. KỸ NGHỆ YÊU CẦU - BIỂU ĐỒ USE CASE</a:t>
            </a:r>
            <a:endParaRPr lang="en-US" sz="1602" dirty="0"/>
          </a:p>
        </p:txBody>
      </p:sp>
      <p:pic>
        <p:nvPicPr>
          <p:cNvPr id="4" name="Image 1" descr="preencoded.png">    </p:cNvPr>
          <p:cNvPicPr>
            <a:picLocks noChangeAspect="1"/>
          </p:cNvPicPr>
          <p:nvPr/>
        </p:nvPicPr>
        <p:blipFill>
          <a:blip r:embed="rId2"/>
          <a:stretch>
            <a:fillRect/>
          </a:stretch>
        </p:blipFill>
        <p:spPr>
          <a:xfrm>
            <a:off x="571500" y="1126452"/>
            <a:ext cx="160734" cy="142875"/>
          </a:xfrm>
          <a:prstGeom prst="rect">
            <a:avLst/>
          </a:prstGeom>
        </p:spPr>
      </p:pic>
      <p:sp>
        <p:nvSpPr>
          <p:cNvPr id="5" name="Text 1"/>
          <p:cNvSpPr/>
          <p:nvPr/>
        </p:nvSpPr>
        <p:spPr>
          <a:xfrm>
            <a:off x="817959" y="1111272"/>
            <a:ext cx="147697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Phân nhóm Use Case</a:t>
            </a:r>
            <a:endParaRPr lang="en-US" sz="987" dirty="0"/>
          </a:p>
        </p:txBody>
      </p:sp>
      <p:sp>
        <p:nvSpPr>
          <p:cNvPr id="6" name="Shape 2"/>
          <p:cNvSpPr/>
          <p:nvPr/>
        </p:nvSpPr>
        <p:spPr>
          <a:xfrm>
            <a:off x="571500" y="1427383"/>
            <a:ext cx="3506912" cy="973336"/>
          </a:xfrm>
          <a:prstGeom prst="rect">
            <a:avLst/>
          </a:prstGeom>
          <a:solidFill>
            <a:srgbClr val="F5F3FF"/>
          </a:solidFill>
          <a:ln/>
        </p:spPr>
      </p:sp>
      <p:pic>
        <p:nvPicPr>
          <p:cNvPr id="7" name="Image 2" descr="preencoded.png">    </p:cNvPr>
          <p:cNvPicPr>
            <a:picLocks noChangeAspect="1"/>
          </p:cNvPicPr>
          <p:nvPr/>
        </p:nvPicPr>
        <p:blipFill>
          <a:blip r:embed="rId3"/>
          <a:stretch>
            <a:fillRect/>
          </a:stretch>
        </p:blipFill>
        <p:spPr>
          <a:xfrm>
            <a:off x="714375" y="1580973"/>
            <a:ext cx="100013" cy="114300"/>
          </a:xfrm>
          <a:prstGeom prst="rect">
            <a:avLst/>
          </a:prstGeom>
        </p:spPr>
      </p:pic>
      <p:sp>
        <p:nvSpPr>
          <p:cNvPr id="8" name="Text 3"/>
          <p:cNvSpPr/>
          <p:nvPr/>
        </p:nvSpPr>
        <p:spPr>
          <a:xfrm>
            <a:off x="814388" y="1570258"/>
            <a:ext cx="935831"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4F46E5"/>
                </a:solidFill>
                <a:latin typeface="Inter" pitchFamily="34" charset="0"/>
                <a:ea typeface="Inter" pitchFamily="34" charset="-122"/>
                <a:cs typeface="Inter" pitchFamily="34" charset="-120"/>
              </a:rPr>
              <a:t>Tenant Manager</a:t>
            </a:r>
            <a:endParaRPr lang="en-US" sz="784" dirty="0"/>
          </a:p>
        </p:txBody>
      </p:sp>
      <p:sp>
        <p:nvSpPr>
          <p:cNvPr id="9" name="Text 4"/>
          <p:cNvSpPr/>
          <p:nvPr/>
        </p:nvSpPr>
        <p:spPr>
          <a:xfrm>
            <a:off x="714375" y="1779212"/>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Quản lý Phòng trọ</a:t>
            </a:r>
            <a:endParaRPr lang="en-US" sz="727" dirty="0"/>
          </a:p>
        </p:txBody>
      </p:sp>
      <p:sp>
        <p:nvSpPr>
          <p:cNvPr id="10" name="Text 5"/>
          <p:cNvSpPr/>
          <p:nvPr/>
        </p:nvSpPr>
        <p:spPr>
          <a:xfrm>
            <a:off x="2353531" y="1779212"/>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Quản lý Cư dân</a:t>
            </a:r>
            <a:endParaRPr lang="en-US" sz="727" dirty="0"/>
          </a:p>
        </p:txBody>
      </p:sp>
      <p:sp>
        <p:nvSpPr>
          <p:cNvPr id="11" name="Text 6"/>
          <p:cNvSpPr/>
          <p:nvPr/>
        </p:nvSpPr>
        <p:spPr>
          <a:xfrm>
            <a:off x="714375" y="1957806"/>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Quản lý Hợp đồng</a:t>
            </a:r>
            <a:endParaRPr lang="en-US" sz="727" dirty="0"/>
          </a:p>
        </p:txBody>
      </p:sp>
      <p:sp>
        <p:nvSpPr>
          <p:cNvPr id="12" name="Text 7"/>
          <p:cNvSpPr/>
          <p:nvPr/>
        </p:nvSpPr>
        <p:spPr>
          <a:xfrm>
            <a:off x="2353531" y="1957806"/>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Quản lý Hóa đơn</a:t>
            </a:r>
            <a:endParaRPr lang="en-US" sz="727" dirty="0"/>
          </a:p>
        </p:txBody>
      </p:sp>
      <p:sp>
        <p:nvSpPr>
          <p:cNvPr id="13" name="Text 8"/>
          <p:cNvSpPr/>
          <p:nvPr/>
        </p:nvSpPr>
        <p:spPr>
          <a:xfrm>
            <a:off x="714375" y="2136400"/>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Ghi số Điện/Nước</a:t>
            </a:r>
            <a:endParaRPr lang="en-US" sz="727" dirty="0"/>
          </a:p>
        </p:txBody>
      </p:sp>
      <p:sp>
        <p:nvSpPr>
          <p:cNvPr id="14" name="Text 9"/>
          <p:cNvSpPr/>
          <p:nvPr/>
        </p:nvSpPr>
        <p:spPr>
          <a:xfrm>
            <a:off x="2353531" y="2136400"/>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Gửi Thông báo</a:t>
            </a:r>
            <a:endParaRPr lang="en-US" sz="727" dirty="0"/>
          </a:p>
        </p:txBody>
      </p:sp>
      <p:sp>
        <p:nvSpPr>
          <p:cNvPr id="15" name="Shape 10"/>
          <p:cNvSpPr/>
          <p:nvPr/>
        </p:nvSpPr>
        <p:spPr>
          <a:xfrm>
            <a:off x="571500" y="2579312"/>
            <a:ext cx="3506912" cy="794742"/>
          </a:xfrm>
          <a:prstGeom prst="rect">
            <a:avLst/>
          </a:prstGeom>
          <a:solidFill>
            <a:srgbClr val="F5F3FF"/>
          </a:solidFill>
          <a:ln/>
        </p:spPr>
      </p:sp>
      <p:pic>
        <p:nvPicPr>
          <p:cNvPr id="16" name="Image 3" descr="preencoded.png">    </p:cNvPr>
          <p:cNvPicPr>
            <a:picLocks noChangeAspect="1"/>
          </p:cNvPicPr>
          <p:nvPr/>
        </p:nvPicPr>
        <p:blipFill>
          <a:blip r:embed="rId4"/>
          <a:stretch>
            <a:fillRect/>
          </a:stretch>
        </p:blipFill>
        <p:spPr>
          <a:xfrm>
            <a:off x="714375" y="2732903"/>
            <a:ext cx="142875" cy="114300"/>
          </a:xfrm>
          <a:prstGeom prst="rect">
            <a:avLst/>
          </a:prstGeom>
        </p:spPr>
      </p:pic>
      <p:sp>
        <p:nvSpPr>
          <p:cNvPr id="17" name="Text 11"/>
          <p:cNvSpPr/>
          <p:nvPr/>
        </p:nvSpPr>
        <p:spPr>
          <a:xfrm>
            <a:off x="857250" y="2722187"/>
            <a:ext cx="91975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4F46E5"/>
                </a:solidFill>
                <a:latin typeface="Inter" pitchFamily="34" charset="0"/>
                <a:ea typeface="Inter" pitchFamily="34" charset="-122"/>
                <a:cs typeface="Inter" pitchFamily="34" charset="-120"/>
              </a:rPr>
              <a:t>Tenant (Cư dân)</a:t>
            </a:r>
            <a:endParaRPr lang="en-US" sz="784" dirty="0"/>
          </a:p>
        </p:txBody>
      </p:sp>
      <p:sp>
        <p:nvSpPr>
          <p:cNvPr id="18" name="Text 12"/>
          <p:cNvSpPr/>
          <p:nvPr/>
        </p:nvSpPr>
        <p:spPr>
          <a:xfrm>
            <a:off x="714375" y="2931142"/>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Xem Hợp đồng</a:t>
            </a:r>
            <a:endParaRPr lang="en-US" sz="727" dirty="0"/>
          </a:p>
        </p:txBody>
      </p:sp>
      <p:sp>
        <p:nvSpPr>
          <p:cNvPr id="19" name="Text 13"/>
          <p:cNvSpPr/>
          <p:nvPr/>
        </p:nvSpPr>
        <p:spPr>
          <a:xfrm>
            <a:off x="2353531" y="2931142"/>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Xem Hóa đơn</a:t>
            </a:r>
            <a:endParaRPr lang="en-US" sz="727" dirty="0"/>
          </a:p>
        </p:txBody>
      </p:sp>
      <p:sp>
        <p:nvSpPr>
          <p:cNvPr id="20" name="Text 14"/>
          <p:cNvSpPr/>
          <p:nvPr/>
        </p:nvSpPr>
        <p:spPr>
          <a:xfrm>
            <a:off x="714375" y="3109736"/>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Gửi Ticket sửa chữa</a:t>
            </a:r>
            <a:endParaRPr lang="en-US" sz="727" dirty="0"/>
          </a:p>
        </p:txBody>
      </p:sp>
      <p:sp>
        <p:nvSpPr>
          <p:cNvPr id="21" name="Shape 15"/>
          <p:cNvSpPr/>
          <p:nvPr/>
        </p:nvSpPr>
        <p:spPr>
          <a:xfrm>
            <a:off x="571500" y="3552648"/>
            <a:ext cx="3506912" cy="616148"/>
          </a:xfrm>
          <a:prstGeom prst="rect">
            <a:avLst/>
          </a:prstGeom>
          <a:solidFill>
            <a:srgbClr val="F5F3FF"/>
          </a:solidFill>
          <a:ln/>
        </p:spPr>
      </p:sp>
      <p:pic>
        <p:nvPicPr>
          <p:cNvPr id="22" name="Image 4" descr="preencoded.png">    </p:cNvPr>
          <p:cNvPicPr>
            <a:picLocks noChangeAspect="1"/>
          </p:cNvPicPr>
          <p:nvPr/>
        </p:nvPicPr>
        <p:blipFill>
          <a:blip r:embed="rId5"/>
          <a:stretch>
            <a:fillRect/>
          </a:stretch>
        </p:blipFill>
        <p:spPr>
          <a:xfrm>
            <a:off x="714375" y="3706239"/>
            <a:ext cx="142875" cy="114300"/>
          </a:xfrm>
          <a:prstGeom prst="rect">
            <a:avLst/>
          </a:prstGeom>
        </p:spPr>
      </p:pic>
      <p:sp>
        <p:nvSpPr>
          <p:cNvPr id="23" name="Text 16"/>
          <p:cNvSpPr/>
          <p:nvPr/>
        </p:nvSpPr>
        <p:spPr>
          <a:xfrm>
            <a:off x="857250" y="3695523"/>
            <a:ext cx="746522"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4F46E5"/>
                </a:solidFill>
                <a:latin typeface="Inter" pitchFamily="34" charset="0"/>
                <a:ea typeface="Inter" pitchFamily="34" charset="-122"/>
                <a:cs typeface="Inter" pitchFamily="34" charset="-120"/>
              </a:rPr>
              <a:t>Super Admin</a:t>
            </a:r>
            <a:endParaRPr lang="en-US" sz="784" dirty="0"/>
          </a:p>
        </p:txBody>
      </p:sp>
      <p:sp>
        <p:nvSpPr>
          <p:cNvPr id="24" name="Text 17"/>
          <p:cNvSpPr/>
          <p:nvPr/>
        </p:nvSpPr>
        <p:spPr>
          <a:xfrm>
            <a:off x="714375" y="3904478"/>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Quản lý Tenant</a:t>
            </a:r>
            <a:endParaRPr lang="en-US" sz="727" dirty="0"/>
          </a:p>
        </p:txBody>
      </p:sp>
      <p:sp>
        <p:nvSpPr>
          <p:cNvPr id="25" name="Text 18"/>
          <p:cNvSpPr/>
          <p:nvPr/>
        </p:nvSpPr>
        <p:spPr>
          <a:xfrm>
            <a:off x="2353531" y="3904478"/>
            <a:ext cx="15820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Quản lý User</a:t>
            </a:r>
            <a:endParaRPr lang="en-US" sz="727" dirty="0"/>
          </a:p>
        </p:txBody>
      </p:sp>
      <p:pic>
        <p:nvPicPr>
          <p:cNvPr id="26" name="Image 5" descr="preencoded.png">    </p:cNvPr>
          <p:cNvPicPr>
            <a:picLocks noChangeAspect="1"/>
          </p:cNvPicPr>
          <p:nvPr/>
        </p:nvPicPr>
        <p:blipFill>
          <a:blip r:embed="rId6"/>
          <a:stretch>
            <a:fillRect/>
          </a:stretch>
        </p:blipFill>
        <p:spPr>
          <a:xfrm>
            <a:off x="4364162" y="1126452"/>
            <a:ext cx="107156" cy="142875"/>
          </a:xfrm>
          <a:prstGeom prst="rect">
            <a:avLst/>
          </a:prstGeom>
        </p:spPr>
      </p:pic>
      <p:sp>
        <p:nvSpPr>
          <p:cNvPr id="27" name="Text 19"/>
          <p:cNvSpPr/>
          <p:nvPr/>
        </p:nvSpPr>
        <p:spPr>
          <a:xfrm>
            <a:off x="4557043" y="1111272"/>
            <a:ext cx="1821656"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Đặc tả: Thanh lý hợp đồng</a:t>
            </a:r>
            <a:endParaRPr lang="en-US" sz="987" dirty="0"/>
          </a:p>
        </p:txBody>
      </p:sp>
      <p:sp>
        <p:nvSpPr>
          <p:cNvPr id="28" name="Shape 20"/>
          <p:cNvSpPr/>
          <p:nvPr/>
        </p:nvSpPr>
        <p:spPr>
          <a:xfrm>
            <a:off x="4364162" y="1430955"/>
            <a:ext cx="1218009" cy="430020"/>
          </a:xfrm>
          <a:prstGeom prst="rect">
            <a:avLst/>
          </a:prstGeom>
          <a:solidFill>
            <a:srgbClr val="1E1B4B"/>
          </a:solidFill>
          <a:ln/>
        </p:spPr>
      </p:sp>
      <p:sp>
        <p:nvSpPr>
          <p:cNvPr id="29" name="Text 21"/>
          <p:cNvSpPr/>
          <p:nvPr/>
        </p:nvSpPr>
        <p:spPr>
          <a:xfrm>
            <a:off x="4364162" y="1430955"/>
            <a:ext cx="1218009" cy="430020"/>
          </a:xfrm>
          <a:prstGeom prst="rect">
            <a:avLst/>
          </a:prstGeom>
          <a:noFill/>
          <a:ln/>
        </p:spPr>
        <p:txBody>
          <a:bodyPr wrap="square" lIns="127508" tIns="85090" rIns="127508" bIns="85090" rtlCol="0" anchor="ctr">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Mô tả</a:t>
            </a:r>
            <a:endParaRPr lang="en-US" sz="683" dirty="0"/>
          </a:p>
        </p:txBody>
      </p:sp>
      <p:sp>
        <p:nvSpPr>
          <p:cNvPr id="30" name="Text 22"/>
          <p:cNvSpPr/>
          <p:nvPr/>
        </p:nvSpPr>
        <p:spPr>
          <a:xfrm>
            <a:off x="5582171" y="1430955"/>
            <a:ext cx="2986757" cy="430020"/>
          </a:xfrm>
          <a:prstGeom prst="rect">
            <a:avLst/>
          </a:prstGeom>
          <a:noFill/>
          <a:ln/>
        </p:spPr>
        <p:txBody>
          <a:bodyPr wrap="square" lIns="127508" tIns="85090" rIns="127508" bIns="85090" rtlCol="0" anchor="ctr">
            <a:spAutoFit/>
          </a:bodyPr>
          <a:lstStyle/>
          <a:p>
            <a:pPr algn="l" indent="0" marL="0">
              <a:lnSpc>
                <a:spcPts val="1100"/>
              </a:lnSpc>
              <a:buNone/>
            </a:pPr>
            <a:r>
              <a:rPr lang="en-US" sz="727" dirty="0">
                <a:solidFill>
                  <a:srgbClr val="1E1B4B"/>
                </a:solidFill>
                <a:latin typeface="Inter" pitchFamily="34" charset="0"/>
                <a:ea typeface="Inter" pitchFamily="34" charset="-122"/>
                <a:cs typeface="Inter" pitchFamily="34" charset="-120"/>
              </a:rPr>
              <a:t>Kết thúc hợp đồng, tính toán tiền hoàn trả cọc dựa trên nợ và ngày ở thực tế.</a:t>
            </a:r>
            <a:endParaRPr lang="en-US" sz="727" dirty="0"/>
          </a:p>
        </p:txBody>
      </p:sp>
      <p:sp>
        <p:nvSpPr>
          <p:cNvPr id="31" name="Shape 23"/>
          <p:cNvSpPr/>
          <p:nvPr/>
        </p:nvSpPr>
        <p:spPr>
          <a:xfrm>
            <a:off x="4364162" y="1860975"/>
            <a:ext cx="1218009" cy="290020"/>
          </a:xfrm>
          <a:prstGeom prst="rect">
            <a:avLst/>
          </a:prstGeom>
          <a:solidFill>
            <a:srgbClr val="1E1B4B"/>
          </a:solidFill>
          <a:ln/>
        </p:spPr>
      </p:sp>
      <p:sp>
        <p:nvSpPr>
          <p:cNvPr id="32" name="Text 24"/>
          <p:cNvSpPr/>
          <p:nvPr/>
        </p:nvSpPr>
        <p:spPr>
          <a:xfrm>
            <a:off x="4364162" y="1860975"/>
            <a:ext cx="1218009" cy="290020"/>
          </a:xfrm>
          <a:prstGeom prst="rect">
            <a:avLst/>
          </a:prstGeom>
          <a:noFill/>
          <a:ln/>
        </p:spPr>
        <p:txBody>
          <a:bodyPr wrap="square" lIns="127508" tIns="85090" rIns="127508" bIns="85090" rtlCol="0" anchor="ctr">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Tiền điều kiện</a:t>
            </a:r>
            <a:endParaRPr lang="en-US" sz="683" dirty="0"/>
          </a:p>
        </p:txBody>
      </p:sp>
      <p:sp>
        <p:nvSpPr>
          <p:cNvPr id="33" name="Text 25"/>
          <p:cNvSpPr/>
          <p:nvPr/>
        </p:nvSpPr>
        <p:spPr>
          <a:xfrm>
            <a:off x="5582171" y="1860975"/>
            <a:ext cx="2986757" cy="290020"/>
          </a:xfrm>
          <a:prstGeom prst="rect">
            <a:avLst/>
          </a:prstGeom>
          <a:noFill/>
          <a:ln/>
        </p:spPr>
        <p:txBody>
          <a:bodyPr wrap="square" lIns="127508" tIns="85090" rIns="127508" bIns="85090" rtlCol="0" anchor="ctr">
            <a:spAutoFit/>
          </a:bodyPr>
          <a:lstStyle/>
          <a:p>
            <a:pPr algn="l" indent="0" marL="0">
              <a:lnSpc>
                <a:spcPts val="1100"/>
              </a:lnSpc>
              <a:buNone/>
            </a:pPr>
            <a:r>
              <a:rPr lang="en-US" sz="727" dirty="0">
                <a:solidFill>
                  <a:srgbClr val="1E1B4B"/>
                </a:solidFill>
                <a:latin typeface="Inter" pitchFamily="34" charset="0"/>
                <a:ea typeface="Inter" pitchFamily="34" charset="-122"/>
                <a:cs typeface="Inter" pitchFamily="34" charset="-120"/>
              </a:rPr>
              <a:t>Hợp đồng đang ở trạng thái ACTIVE.</a:t>
            </a:r>
            <a:endParaRPr lang="en-US" sz="727" dirty="0"/>
          </a:p>
        </p:txBody>
      </p:sp>
      <p:sp>
        <p:nvSpPr>
          <p:cNvPr id="34" name="Shape 26"/>
          <p:cNvSpPr/>
          <p:nvPr/>
        </p:nvSpPr>
        <p:spPr>
          <a:xfrm>
            <a:off x="4364162" y="2150994"/>
            <a:ext cx="1218009" cy="710022"/>
          </a:xfrm>
          <a:prstGeom prst="rect">
            <a:avLst/>
          </a:prstGeom>
          <a:solidFill>
            <a:srgbClr val="1E1B4B"/>
          </a:solidFill>
          <a:ln/>
        </p:spPr>
      </p:sp>
      <p:sp>
        <p:nvSpPr>
          <p:cNvPr id="35" name="Text 27"/>
          <p:cNvSpPr/>
          <p:nvPr/>
        </p:nvSpPr>
        <p:spPr>
          <a:xfrm>
            <a:off x="4364162" y="2150994"/>
            <a:ext cx="1218009" cy="710022"/>
          </a:xfrm>
          <a:prstGeom prst="rect">
            <a:avLst/>
          </a:prstGeom>
          <a:noFill/>
          <a:ln/>
        </p:spPr>
        <p:txBody>
          <a:bodyPr wrap="square" lIns="127508" tIns="85090" rIns="127508" bIns="85090" rtlCol="0" anchor="ctr">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Luồng chính</a:t>
            </a:r>
            <a:endParaRPr lang="en-US" sz="683" dirty="0"/>
          </a:p>
        </p:txBody>
      </p:sp>
      <p:sp>
        <p:nvSpPr>
          <p:cNvPr id="36" name="Text 28"/>
          <p:cNvSpPr/>
          <p:nvPr/>
        </p:nvSpPr>
        <p:spPr>
          <a:xfrm>
            <a:off x="5692899" y="2234933"/>
            <a:ext cx="1453753" cy="121444"/>
          </a:xfrm>
          <a:prstGeom prst="rect">
            <a:avLst/>
          </a:prstGeom>
          <a:noFill/>
          <a:ln/>
        </p:spPr>
        <p:txBody>
          <a:bodyPr wrap="none" lIns="0" tIns="0" rIns="0" bIns="0" rtlCol="0" anchor="t">
            <a:spAutoFit/>
          </a:bodyPr>
          <a:lstStyle/>
          <a:p>
            <a:pPr algn="l" indent="0" marL="0">
              <a:lnSpc>
                <a:spcPts val="1100"/>
              </a:lnSpc>
              <a:buNone/>
            </a:pPr>
            <a:r>
              <a:rPr lang="en-US" sz="727" dirty="0">
                <a:solidFill>
                  <a:srgbClr val="1E1B4B"/>
                </a:solidFill>
                <a:latin typeface="Inter" pitchFamily="34" charset="0"/>
                <a:ea typeface="Inter" pitchFamily="34" charset="-122"/>
                <a:cs typeface="Inter" pitchFamily="34" charset="-120"/>
              </a:rPr>
              <a:t>1. Chọn hợp đồng cần thanh lý.</a:t>
            </a:r>
            <a:endParaRPr lang="en-US" sz="727" dirty="0"/>
          </a:p>
        </p:txBody>
      </p:sp>
      <p:sp>
        <p:nvSpPr>
          <p:cNvPr id="37" name="Text 29"/>
          <p:cNvSpPr/>
          <p:nvPr/>
        </p:nvSpPr>
        <p:spPr>
          <a:xfrm>
            <a:off x="5692899" y="2374934"/>
            <a:ext cx="2448520" cy="121444"/>
          </a:xfrm>
          <a:prstGeom prst="rect">
            <a:avLst/>
          </a:prstGeom>
          <a:noFill/>
          <a:ln/>
        </p:spPr>
        <p:txBody>
          <a:bodyPr wrap="none" lIns="0" tIns="0" rIns="0" bIns="0" rtlCol="0" anchor="t">
            <a:spAutoFit/>
          </a:bodyPr>
          <a:lstStyle/>
          <a:p>
            <a:pPr algn="l" indent="0" marL="0">
              <a:lnSpc>
                <a:spcPts val="1100"/>
              </a:lnSpc>
              <a:buNone/>
            </a:pPr>
            <a:r>
              <a:rPr lang="en-US" sz="727" dirty="0">
                <a:solidFill>
                  <a:srgbClr val="1E1B4B"/>
                </a:solidFill>
                <a:latin typeface="Inter" pitchFamily="34" charset="0"/>
                <a:ea typeface="Inter" pitchFamily="34" charset="-122"/>
                <a:cs typeface="Inter" pitchFamily="34" charset="-120"/>
              </a:rPr>
              <a:t>2. Hệ thống tính toán tiền phòng lẻ ngày và tổng nợ.</a:t>
            </a:r>
            <a:endParaRPr lang="en-US" sz="727" dirty="0"/>
          </a:p>
        </p:txBody>
      </p:sp>
      <p:sp>
        <p:nvSpPr>
          <p:cNvPr id="38" name="Text 30"/>
          <p:cNvSpPr/>
          <p:nvPr/>
        </p:nvSpPr>
        <p:spPr>
          <a:xfrm>
            <a:off x="5692899" y="2514935"/>
            <a:ext cx="1651992" cy="121444"/>
          </a:xfrm>
          <a:prstGeom prst="rect">
            <a:avLst/>
          </a:prstGeom>
          <a:noFill/>
          <a:ln/>
        </p:spPr>
        <p:txBody>
          <a:bodyPr wrap="none" lIns="0" tIns="0" rIns="0" bIns="0" rtlCol="0" anchor="t">
            <a:spAutoFit/>
          </a:bodyPr>
          <a:lstStyle/>
          <a:p>
            <a:pPr algn="l" indent="0" marL="0">
              <a:lnSpc>
                <a:spcPts val="1100"/>
              </a:lnSpc>
              <a:buNone/>
            </a:pPr>
            <a:r>
              <a:rPr lang="en-US" sz="727" dirty="0">
                <a:solidFill>
                  <a:srgbClr val="1E1B4B"/>
                </a:solidFill>
                <a:latin typeface="Inter" pitchFamily="34" charset="0"/>
                <a:ea typeface="Inter" pitchFamily="34" charset="-122"/>
                <a:cs typeface="Inter" pitchFamily="34" charset="-120"/>
              </a:rPr>
              <a:t>3. Hiển thị số tiền hoàn trả dự kiến.</a:t>
            </a:r>
            <a:endParaRPr lang="en-US" sz="727" dirty="0"/>
          </a:p>
        </p:txBody>
      </p:sp>
      <p:sp>
        <p:nvSpPr>
          <p:cNvPr id="39" name="Text 31"/>
          <p:cNvSpPr/>
          <p:nvPr/>
        </p:nvSpPr>
        <p:spPr>
          <a:xfrm>
            <a:off x="5692899" y="2654936"/>
            <a:ext cx="2361009" cy="121444"/>
          </a:xfrm>
          <a:prstGeom prst="rect">
            <a:avLst/>
          </a:prstGeom>
          <a:noFill/>
          <a:ln/>
        </p:spPr>
        <p:txBody>
          <a:bodyPr wrap="none" lIns="0" tIns="0" rIns="0" bIns="0" rtlCol="0" anchor="t">
            <a:spAutoFit/>
          </a:bodyPr>
          <a:lstStyle/>
          <a:p>
            <a:pPr algn="l" indent="0" marL="0">
              <a:lnSpc>
                <a:spcPts val="1100"/>
              </a:lnSpc>
              <a:buNone/>
            </a:pPr>
            <a:r>
              <a:rPr lang="en-US" sz="727" dirty="0">
                <a:solidFill>
                  <a:srgbClr val="1E1B4B"/>
                </a:solidFill>
                <a:latin typeface="Inter" pitchFamily="34" charset="0"/>
                <a:ea typeface="Inter" pitchFamily="34" charset="-122"/>
                <a:cs typeface="Inter" pitchFamily="34" charset="-120"/>
              </a:rPr>
              <a:t>4. Xác nhận thanh lý và cập nhật trạng thái phòng.</a:t>
            </a:r>
            <a:endParaRPr lang="en-US" sz="727" dirty="0"/>
          </a:p>
        </p:txBody>
      </p:sp>
      <p:sp>
        <p:nvSpPr>
          <p:cNvPr id="40" name="Shape 32"/>
          <p:cNvSpPr/>
          <p:nvPr/>
        </p:nvSpPr>
        <p:spPr>
          <a:xfrm>
            <a:off x="4364162" y="2861016"/>
            <a:ext cx="1218009" cy="430020"/>
          </a:xfrm>
          <a:prstGeom prst="rect">
            <a:avLst/>
          </a:prstGeom>
          <a:solidFill>
            <a:srgbClr val="1E1B4B"/>
          </a:solidFill>
          <a:ln/>
        </p:spPr>
      </p:sp>
      <p:sp>
        <p:nvSpPr>
          <p:cNvPr id="41" name="Text 33"/>
          <p:cNvSpPr/>
          <p:nvPr/>
        </p:nvSpPr>
        <p:spPr>
          <a:xfrm>
            <a:off x="4364162" y="2861016"/>
            <a:ext cx="1218009" cy="430020"/>
          </a:xfrm>
          <a:prstGeom prst="rect">
            <a:avLst/>
          </a:prstGeom>
          <a:noFill/>
          <a:ln/>
        </p:spPr>
        <p:txBody>
          <a:bodyPr wrap="square" lIns="127508" tIns="85090" rIns="127508" bIns="85090" rtlCol="0" anchor="ctr">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Hậu điều kiện</a:t>
            </a:r>
            <a:endParaRPr lang="en-US" sz="683" dirty="0"/>
          </a:p>
        </p:txBody>
      </p:sp>
      <p:sp>
        <p:nvSpPr>
          <p:cNvPr id="42" name="Text 34"/>
          <p:cNvSpPr/>
          <p:nvPr/>
        </p:nvSpPr>
        <p:spPr>
          <a:xfrm>
            <a:off x="5582171" y="2861016"/>
            <a:ext cx="2986757" cy="430020"/>
          </a:xfrm>
          <a:prstGeom prst="rect">
            <a:avLst/>
          </a:prstGeom>
          <a:noFill/>
          <a:ln/>
        </p:spPr>
        <p:txBody>
          <a:bodyPr wrap="square" lIns="127508" tIns="85090" rIns="127508" bIns="85090" rtlCol="0" anchor="ctr">
            <a:spAutoFit/>
          </a:bodyPr>
          <a:lstStyle/>
          <a:p>
            <a:pPr algn="l" indent="0" marL="0">
              <a:lnSpc>
                <a:spcPts val="1100"/>
              </a:lnSpc>
              <a:buNone/>
            </a:pPr>
            <a:r>
              <a:rPr lang="en-US" sz="727" dirty="0">
                <a:solidFill>
                  <a:srgbClr val="1E1B4B"/>
                </a:solidFill>
                <a:latin typeface="Inter" pitchFamily="34" charset="0"/>
                <a:ea typeface="Inter" pitchFamily="34" charset="-122"/>
                <a:cs typeface="Inter" pitchFamily="34" charset="-120"/>
              </a:rPr>
              <a:t>Hợp đồng chuyển sang TERMINATED, phòng chuyển sang VACANT.</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6. THIẾT KẾ KIẾN TRÚC HỆ THỐNG</a:t>
            </a:r>
            <a:endParaRPr lang="en-US" sz="1602" dirty="0"/>
          </a:p>
        </p:txBody>
      </p:sp>
      <p:pic>
        <p:nvPicPr>
          <p:cNvPr id="4" name="Image 1" descr="preencoded.png">    </p:cNvPr>
          <p:cNvPicPr>
            <a:picLocks noChangeAspect="1"/>
          </p:cNvPicPr>
          <p:nvPr/>
        </p:nvPicPr>
        <p:blipFill>
          <a:blip r:embed="rId2"/>
          <a:stretch>
            <a:fillRect/>
          </a:stretch>
        </p:blipFill>
        <p:spPr>
          <a:xfrm>
            <a:off x="571500" y="1161697"/>
            <a:ext cx="171450" cy="171450"/>
          </a:xfrm>
          <a:prstGeom prst="rect">
            <a:avLst/>
          </a:prstGeom>
        </p:spPr>
      </p:pic>
      <p:sp>
        <p:nvSpPr>
          <p:cNvPr id="5" name="Text 1"/>
          <p:cNvSpPr/>
          <p:nvPr/>
        </p:nvSpPr>
        <p:spPr>
          <a:xfrm>
            <a:off x="850106" y="1143837"/>
            <a:ext cx="1332309"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E1B4B"/>
                </a:solidFill>
                <a:latin typeface="Inter" pitchFamily="34" charset="0"/>
                <a:ea typeface="Inter" pitchFamily="34" charset="-122"/>
                <a:cs typeface="Inter" pitchFamily="34" charset="-120"/>
              </a:rPr>
              <a:t>Kiến trúc 3 tầng</a:t>
            </a:r>
            <a:endParaRPr lang="en-US" sz="1193" dirty="0"/>
          </a:p>
        </p:txBody>
      </p:sp>
      <p:sp>
        <p:nvSpPr>
          <p:cNvPr id="6" name="Shape 2"/>
          <p:cNvSpPr/>
          <p:nvPr/>
        </p:nvSpPr>
        <p:spPr>
          <a:xfrm>
            <a:off x="571500" y="1465306"/>
            <a:ext cx="357188" cy="357188"/>
          </a:xfrm>
          <a:prstGeom prst="rect">
            <a:avLst/>
          </a:prstGeom>
          <a:solidFill>
            <a:srgbClr val="1E1B4B"/>
          </a:solidFill>
          <a:ln/>
        </p:spPr>
      </p:sp>
      <p:pic>
        <p:nvPicPr>
          <p:cNvPr id="7" name="Image 2" descr="preencoded.png">    </p:cNvPr>
          <p:cNvPicPr>
            <a:picLocks noChangeAspect="1"/>
          </p:cNvPicPr>
          <p:nvPr/>
        </p:nvPicPr>
        <p:blipFill>
          <a:blip r:embed="rId3"/>
          <a:stretch>
            <a:fillRect/>
          </a:stretch>
        </p:blipFill>
        <p:spPr>
          <a:xfrm>
            <a:off x="669727" y="1572462"/>
            <a:ext cx="160734" cy="142875"/>
          </a:xfrm>
          <a:prstGeom prst="rect">
            <a:avLst/>
          </a:prstGeom>
        </p:spPr>
      </p:pic>
      <p:sp>
        <p:nvSpPr>
          <p:cNvPr id="8" name="Text 3"/>
          <p:cNvSpPr/>
          <p:nvPr/>
        </p:nvSpPr>
        <p:spPr>
          <a:xfrm>
            <a:off x="1071563" y="1636309"/>
            <a:ext cx="3393281"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4F46E5"/>
                </a:solidFill>
                <a:latin typeface="Inter" pitchFamily="34" charset="0"/>
                <a:ea typeface="Inter" pitchFamily="34" charset="-122"/>
                <a:cs typeface="Inter" pitchFamily="34" charset="-120"/>
              </a:rPr>
              <a:t>Presentation Layer</a:t>
            </a:r>
            <a:endParaRPr lang="en-US" sz="885" dirty="0"/>
          </a:p>
        </p:txBody>
      </p:sp>
      <p:sp>
        <p:nvSpPr>
          <p:cNvPr id="9" name="Text 4"/>
          <p:cNvSpPr/>
          <p:nvPr/>
        </p:nvSpPr>
        <p:spPr>
          <a:xfrm>
            <a:off x="1071563" y="1898842"/>
            <a:ext cx="3393281"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4B5563"/>
                </a:solidFill>
                <a:latin typeface="Inter" pitchFamily="34" charset="0"/>
                <a:ea typeface="Inter" pitchFamily="34" charset="-122"/>
                <a:cs typeface="Inter" pitchFamily="34" charset="-120"/>
              </a:rPr>
              <a:t>Single Page Application (SPA) xử lý giao diện và tương tác người dùng.</a:t>
            </a:r>
            <a:endParaRPr lang="en-US" sz="780" dirty="0"/>
          </a:p>
        </p:txBody>
      </p:sp>
      <p:sp>
        <p:nvSpPr>
          <p:cNvPr id="10" name="Shape 5"/>
          <p:cNvSpPr/>
          <p:nvPr/>
        </p:nvSpPr>
        <p:spPr>
          <a:xfrm>
            <a:off x="1071563" y="2284605"/>
            <a:ext cx="1278731" cy="162520"/>
          </a:xfrm>
          <a:prstGeom prst="rect">
            <a:avLst/>
          </a:prstGeom>
          <a:solidFill>
            <a:srgbClr val="E0E7FF"/>
          </a:solidFill>
          <a:ln/>
        </p:spPr>
      </p:sp>
      <p:sp>
        <p:nvSpPr>
          <p:cNvPr id="11" name="Text 6"/>
          <p:cNvSpPr/>
          <p:nvPr/>
        </p:nvSpPr>
        <p:spPr>
          <a:xfrm>
            <a:off x="1071563" y="2284605"/>
            <a:ext cx="1278731" cy="162520"/>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4338CA"/>
                </a:solidFill>
                <a:latin typeface="Inter" pitchFamily="34" charset="0"/>
                <a:ea typeface="Inter" pitchFamily="34" charset="-122"/>
                <a:cs typeface="Inter" pitchFamily="34" charset="-120"/>
              </a:rPr>
              <a:t>REACT + VITE + TAILWIND</a:t>
            </a:r>
            <a:endParaRPr lang="en-US" sz="584" dirty="0"/>
          </a:p>
        </p:txBody>
      </p:sp>
      <p:sp>
        <p:nvSpPr>
          <p:cNvPr id="12" name="Shape 7"/>
          <p:cNvSpPr/>
          <p:nvPr/>
        </p:nvSpPr>
        <p:spPr>
          <a:xfrm>
            <a:off x="571500" y="2532850"/>
            <a:ext cx="357188" cy="357188"/>
          </a:xfrm>
          <a:prstGeom prst="rect">
            <a:avLst/>
          </a:prstGeom>
          <a:solidFill>
            <a:srgbClr val="1E1B4B"/>
          </a:solidFill>
          <a:ln/>
        </p:spPr>
      </p:sp>
      <p:pic>
        <p:nvPicPr>
          <p:cNvPr id="13" name="Image 3" descr="preencoded.png">    </p:cNvPr>
          <p:cNvPicPr>
            <a:picLocks noChangeAspect="1"/>
          </p:cNvPicPr>
          <p:nvPr/>
        </p:nvPicPr>
        <p:blipFill>
          <a:blip r:embed="rId4"/>
          <a:stretch>
            <a:fillRect/>
          </a:stretch>
        </p:blipFill>
        <p:spPr>
          <a:xfrm>
            <a:off x="660797" y="2640006"/>
            <a:ext cx="178594" cy="142875"/>
          </a:xfrm>
          <a:prstGeom prst="rect">
            <a:avLst/>
          </a:prstGeom>
        </p:spPr>
      </p:pic>
      <p:sp>
        <p:nvSpPr>
          <p:cNvPr id="14" name="Text 8"/>
          <p:cNvSpPr/>
          <p:nvPr/>
        </p:nvSpPr>
        <p:spPr>
          <a:xfrm>
            <a:off x="1071563" y="2703854"/>
            <a:ext cx="3332559"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4F46E5"/>
                </a:solidFill>
                <a:latin typeface="Inter" pitchFamily="34" charset="0"/>
                <a:ea typeface="Inter" pitchFamily="34" charset="-122"/>
                <a:cs typeface="Inter" pitchFamily="34" charset="-120"/>
              </a:rPr>
              <a:t>Business Logic Layer</a:t>
            </a:r>
            <a:endParaRPr lang="en-US" sz="885" dirty="0"/>
          </a:p>
        </p:txBody>
      </p:sp>
      <p:sp>
        <p:nvSpPr>
          <p:cNvPr id="15" name="Text 9"/>
          <p:cNvSpPr/>
          <p:nvPr/>
        </p:nvSpPr>
        <p:spPr>
          <a:xfrm>
            <a:off x="1071563" y="2966386"/>
            <a:ext cx="3332559" cy="150019"/>
          </a:xfrm>
          <a:prstGeom prst="rect">
            <a:avLst/>
          </a:prstGeom>
          <a:noFill/>
          <a:ln/>
        </p:spPr>
        <p:txBody>
          <a:bodyPr wrap="none" lIns="0" tIns="0" rIns="0" bIns="0" rtlCol="0" anchor="t">
            <a:spAutoFit/>
          </a:bodyPr>
          <a:lstStyle/>
          <a:p>
            <a:pPr algn="l" indent="0" marL="0">
              <a:lnSpc>
                <a:spcPts val="1200"/>
              </a:lnSpc>
              <a:buNone/>
            </a:pPr>
            <a:r>
              <a:rPr lang="en-US" sz="780" dirty="0">
                <a:solidFill>
                  <a:srgbClr val="4B5563"/>
                </a:solidFill>
                <a:latin typeface="Inter" pitchFamily="34" charset="0"/>
                <a:ea typeface="Inter" pitchFamily="34" charset="-122"/>
                <a:cs typeface="Inter" pitchFamily="34" charset="-120"/>
              </a:rPr>
              <a:t>RESTful API xử lý các quy tắc nghiệp vụ, xác thực và phân quyền.</a:t>
            </a:r>
            <a:endParaRPr lang="en-US" sz="780" dirty="0"/>
          </a:p>
        </p:txBody>
      </p:sp>
      <p:sp>
        <p:nvSpPr>
          <p:cNvPr id="16" name="Shape 10"/>
          <p:cNvSpPr/>
          <p:nvPr/>
        </p:nvSpPr>
        <p:spPr>
          <a:xfrm>
            <a:off x="1071563" y="3202130"/>
            <a:ext cx="1628775" cy="162520"/>
          </a:xfrm>
          <a:prstGeom prst="rect">
            <a:avLst/>
          </a:prstGeom>
          <a:solidFill>
            <a:srgbClr val="E0E7FF"/>
          </a:solidFill>
          <a:ln/>
        </p:spPr>
      </p:sp>
      <p:sp>
        <p:nvSpPr>
          <p:cNvPr id="17" name="Text 11"/>
          <p:cNvSpPr/>
          <p:nvPr/>
        </p:nvSpPr>
        <p:spPr>
          <a:xfrm>
            <a:off x="1071563" y="3202130"/>
            <a:ext cx="1628775" cy="162520"/>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4338CA"/>
                </a:solidFill>
                <a:latin typeface="Inter" pitchFamily="34" charset="0"/>
                <a:ea typeface="Inter" pitchFamily="34" charset="-122"/>
                <a:cs typeface="Inter" pitchFamily="34" charset="-120"/>
              </a:rPr>
              <a:t>SPRING BOOT + SPRING SECURITY</a:t>
            </a:r>
            <a:endParaRPr lang="en-US" sz="584" dirty="0"/>
          </a:p>
        </p:txBody>
      </p:sp>
      <p:sp>
        <p:nvSpPr>
          <p:cNvPr id="18" name="Shape 12"/>
          <p:cNvSpPr/>
          <p:nvPr/>
        </p:nvSpPr>
        <p:spPr>
          <a:xfrm>
            <a:off x="571500" y="3450375"/>
            <a:ext cx="357188" cy="357188"/>
          </a:xfrm>
          <a:prstGeom prst="rect">
            <a:avLst/>
          </a:prstGeom>
          <a:solidFill>
            <a:srgbClr val="1E1B4B"/>
          </a:solidFill>
          <a:ln/>
        </p:spPr>
      </p:sp>
      <p:pic>
        <p:nvPicPr>
          <p:cNvPr id="19" name="Image 4" descr="preencoded.png">    </p:cNvPr>
          <p:cNvPicPr>
            <a:picLocks noChangeAspect="1"/>
          </p:cNvPicPr>
          <p:nvPr/>
        </p:nvPicPr>
        <p:blipFill>
          <a:blip r:embed="rId5"/>
          <a:stretch>
            <a:fillRect/>
          </a:stretch>
        </p:blipFill>
        <p:spPr>
          <a:xfrm>
            <a:off x="687586" y="3557532"/>
            <a:ext cx="125016" cy="142875"/>
          </a:xfrm>
          <a:prstGeom prst="rect">
            <a:avLst/>
          </a:prstGeom>
        </p:spPr>
      </p:pic>
      <p:sp>
        <p:nvSpPr>
          <p:cNvPr id="20" name="Text 13"/>
          <p:cNvSpPr/>
          <p:nvPr/>
        </p:nvSpPr>
        <p:spPr>
          <a:xfrm>
            <a:off x="1071563" y="3621379"/>
            <a:ext cx="3234333"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4F46E5"/>
                </a:solidFill>
                <a:latin typeface="Inter" pitchFamily="34" charset="0"/>
                <a:ea typeface="Inter" pitchFamily="34" charset="-122"/>
                <a:cs typeface="Inter" pitchFamily="34" charset="-120"/>
              </a:rPr>
              <a:t>Data Access Layer</a:t>
            </a:r>
            <a:endParaRPr lang="en-US" sz="885" dirty="0"/>
          </a:p>
        </p:txBody>
      </p:sp>
      <p:sp>
        <p:nvSpPr>
          <p:cNvPr id="21" name="Text 14"/>
          <p:cNvSpPr/>
          <p:nvPr/>
        </p:nvSpPr>
        <p:spPr>
          <a:xfrm>
            <a:off x="1071563" y="3883912"/>
            <a:ext cx="3234333" cy="150019"/>
          </a:xfrm>
          <a:prstGeom prst="rect">
            <a:avLst/>
          </a:prstGeom>
          <a:noFill/>
          <a:ln/>
        </p:spPr>
        <p:txBody>
          <a:bodyPr wrap="none" lIns="0" tIns="0" rIns="0" bIns="0" rtlCol="0" anchor="t">
            <a:spAutoFit/>
          </a:bodyPr>
          <a:lstStyle/>
          <a:p>
            <a:pPr algn="l" indent="0" marL="0">
              <a:lnSpc>
                <a:spcPts val="1200"/>
              </a:lnSpc>
              <a:buNone/>
            </a:pPr>
            <a:r>
              <a:rPr lang="en-US" sz="780" dirty="0">
                <a:solidFill>
                  <a:srgbClr val="4B5563"/>
                </a:solidFill>
                <a:latin typeface="Inter" pitchFamily="34" charset="0"/>
                <a:ea typeface="Inter" pitchFamily="34" charset="-122"/>
                <a:cs typeface="Inter" pitchFamily="34" charset="-120"/>
              </a:rPr>
              <a:t>Quản lý truy vấn, lưu trữ dữ liệu quan hệ và di trú cấu trúc bảng.</a:t>
            </a:r>
            <a:endParaRPr lang="en-US" sz="780" dirty="0"/>
          </a:p>
        </p:txBody>
      </p:sp>
      <p:sp>
        <p:nvSpPr>
          <p:cNvPr id="22" name="Shape 15"/>
          <p:cNvSpPr/>
          <p:nvPr/>
        </p:nvSpPr>
        <p:spPr>
          <a:xfrm>
            <a:off x="1071563" y="4119656"/>
            <a:ext cx="1460897" cy="162520"/>
          </a:xfrm>
          <a:prstGeom prst="rect">
            <a:avLst/>
          </a:prstGeom>
          <a:solidFill>
            <a:srgbClr val="E0E7FF"/>
          </a:solidFill>
          <a:ln/>
        </p:spPr>
      </p:sp>
      <p:sp>
        <p:nvSpPr>
          <p:cNvPr id="23" name="Text 16"/>
          <p:cNvSpPr/>
          <p:nvPr/>
        </p:nvSpPr>
        <p:spPr>
          <a:xfrm>
            <a:off x="1071563" y="4119656"/>
            <a:ext cx="1460897" cy="162520"/>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4338CA"/>
                </a:solidFill>
                <a:latin typeface="Inter" pitchFamily="34" charset="0"/>
                <a:ea typeface="Inter" pitchFamily="34" charset="-122"/>
                <a:cs typeface="Inter" pitchFamily="34" charset="-120"/>
              </a:rPr>
              <a:t>POSTGRESQL + JPA + FLYWAY</a:t>
            </a:r>
            <a:endParaRPr lang="en-US" sz="584" dirty="0"/>
          </a:p>
        </p:txBody>
      </p:sp>
      <p:sp>
        <p:nvSpPr>
          <p:cNvPr id="24" name="Text 17"/>
          <p:cNvSpPr/>
          <p:nvPr/>
        </p:nvSpPr>
        <p:spPr>
          <a:xfrm>
            <a:off x="4786313" y="1143837"/>
            <a:ext cx="1802011"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E1B4B"/>
                </a:solidFill>
                <a:latin typeface="Inter" pitchFamily="34" charset="0"/>
                <a:ea typeface="Inter" pitchFamily="34" charset="-122"/>
                <a:cs typeface="Inter" pitchFamily="34" charset="-120"/>
              </a:rPr>
              <a:t>Multi-tenant Isolation</a:t>
            </a:r>
            <a:endParaRPr lang="en-US" sz="1193" dirty="0"/>
          </a:p>
        </p:txBody>
      </p:sp>
      <p:sp>
        <p:nvSpPr>
          <p:cNvPr id="25" name="Shape 18"/>
          <p:cNvSpPr/>
          <p:nvPr/>
        </p:nvSpPr>
        <p:spPr>
          <a:xfrm>
            <a:off x="4679156" y="1465306"/>
            <a:ext cx="3893344" cy="1635919"/>
          </a:xfrm>
          <a:prstGeom prst="rect">
            <a:avLst/>
          </a:prstGeom>
          <a:solidFill>
            <a:srgbClr val="F5F3FF"/>
          </a:solidFill>
          <a:ln/>
        </p:spPr>
      </p:sp>
      <p:sp>
        <p:nvSpPr>
          <p:cNvPr id="26" name="Shape 19"/>
          <p:cNvSpPr/>
          <p:nvPr/>
        </p:nvSpPr>
        <p:spPr>
          <a:xfrm>
            <a:off x="4679156" y="1465306"/>
            <a:ext cx="3893344" cy="28575"/>
          </a:xfrm>
          <a:prstGeom prst="rect">
            <a:avLst/>
          </a:prstGeom>
          <a:solidFill>
            <a:srgbClr val="4F46E5"/>
          </a:solidFill>
          <a:ln/>
        </p:spPr>
      </p:sp>
      <p:sp>
        <p:nvSpPr>
          <p:cNvPr id="27" name="Text 20"/>
          <p:cNvSpPr/>
          <p:nvPr/>
        </p:nvSpPr>
        <p:spPr>
          <a:xfrm>
            <a:off x="4807744" y="1701050"/>
            <a:ext cx="3636169"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1E1B4B"/>
                </a:solidFill>
                <a:latin typeface="Inter" pitchFamily="34" charset="0"/>
                <a:ea typeface="Inter" pitchFamily="34" charset="-122"/>
                <a:cs typeface="Inter" pitchFamily="34" charset="-120"/>
              </a:rPr>
              <a:t>Hệ thống áp dụng mô hình </a:t>
            </a:r>
            <a:r>
              <a:rPr lang="en-US" sz="734" b="1" dirty="0">
                <a:solidFill>
                  <a:srgbClr val="1E1B4B"/>
                </a:solidFill>
                <a:latin typeface="Inter" pitchFamily="34" charset="0"/>
                <a:ea typeface="Inter" pitchFamily="34" charset="-122"/>
                <a:cs typeface="Inter" pitchFamily="34" charset="-120"/>
              </a:rPr>
              <a:t>Shared Database, Shared Schema</a:t>
            </a:r>
            <a:r>
              <a:rPr lang="en-US" sz="780" dirty="0">
                <a:solidFill>
                  <a:srgbClr val="1E1B4B"/>
                </a:solidFill>
                <a:latin typeface="Inter" pitchFamily="34" charset="0"/>
                <a:ea typeface="Inter" pitchFamily="34" charset="-122"/>
                <a:cs typeface="Inter" pitchFamily="34" charset="-120"/>
              </a:rPr>
              <a:t> nhưng </a:t>
            </a:r>
            <a:r>
              <a:rPr lang="en-US" sz="780" dirty="0">
                <a:solidFill>
                  <a:srgbClr val="1E1B4B"/>
                </a:solidFill>
                <a:latin typeface="Inter" pitchFamily="34" charset="0"/>
                <a:ea typeface="Inter" pitchFamily="34" charset="-122"/>
                <a:cs typeface="Inter" pitchFamily="34" charset="-120"/>
              </a:rPr>
              <a:t>đảm bảo cách ly dữ liệu tuyệt đối giữa các chủ trọ (Tenants).</a:t>
            </a:r>
            <a:endParaRPr lang="en-US" sz="780" dirty="0"/>
          </a:p>
        </p:txBody>
      </p:sp>
      <p:pic>
        <p:nvPicPr>
          <p:cNvPr id="28" name="Image 5" descr="preencoded.png">    </p:cNvPr>
          <p:cNvPicPr>
            <a:picLocks noChangeAspect="1"/>
          </p:cNvPicPr>
          <p:nvPr/>
        </p:nvPicPr>
        <p:blipFill>
          <a:blip r:embed="rId6"/>
          <a:stretch>
            <a:fillRect/>
          </a:stretch>
        </p:blipFill>
        <p:spPr>
          <a:xfrm>
            <a:off x="4807744" y="2119852"/>
            <a:ext cx="142875" cy="114300"/>
          </a:xfrm>
          <a:prstGeom prst="rect">
            <a:avLst/>
          </a:prstGeom>
        </p:spPr>
      </p:pic>
      <p:sp>
        <p:nvSpPr>
          <p:cNvPr id="29" name="Text 21"/>
          <p:cNvSpPr/>
          <p:nvPr/>
        </p:nvSpPr>
        <p:spPr>
          <a:xfrm>
            <a:off x="5036344" y="2108243"/>
            <a:ext cx="224313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Mọi bảng dữ liệu đều chứa cột tenant_id.</a:t>
            </a:r>
            <a:endParaRPr lang="en-US" sz="784" dirty="0"/>
          </a:p>
        </p:txBody>
      </p:sp>
      <p:pic>
        <p:nvPicPr>
          <p:cNvPr id="30" name="Image 6" descr="preencoded.png">    </p:cNvPr>
          <p:cNvPicPr>
            <a:picLocks noChangeAspect="1"/>
          </p:cNvPicPr>
          <p:nvPr/>
        </p:nvPicPr>
        <p:blipFill>
          <a:blip r:embed="rId7"/>
          <a:stretch>
            <a:fillRect/>
          </a:stretch>
        </p:blipFill>
        <p:spPr>
          <a:xfrm>
            <a:off x="4807744" y="2328807"/>
            <a:ext cx="142875" cy="114300"/>
          </a:xfrm>
          <a:prstGeom prst="rect">
            <a:avLst/>
          </a:prstGeom>
        </p:spPr>
      </p:pic>
      <p:sp>
        <p:nvSpPr>
          <p:cNvPr id="31" name="Text 22"/>
          <p:cNvSpPr/>
          <p:nvPr/>
        </p:nvSpPr>
        <p:spPr>
          <a:xfrm>
            <a:off x="5036344" y="2317198"/>
            <a:ext cx="2555677"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Lọc dữ liệu tự động ở mức Repository/Service.</a:t>
            </a:r>
            <a:endParaRPr lang="en-US" sz="784" dirty="0"/>
          </a:p>
        </p:txBody>
      </p:sp>
      <p:pic>
        <p:nvPicPr>
          <p:cNvPr id="32" name="Image 7" descr="preencoded.png">    </p:cNvPr>
          <p:cNvPicPr>
            <a:picLocks noChangeAspect="1"/>
          </p:cNvPicPr>
          <p:nvPr/>
        </p:nvPicPr>
        <p:blipFill>
          <a:blip r:embed="rId8"/>
          <a:stretch>
            <a:fillRect/>
          </a:stretch>
        </p:blipFill>
        <p:spPr>
          <a:xfrm>
            <a:off x="4807744" y="2537761"/>
            <a:ext cx="142875" cy="114300"/>
          </a:xfrm>
          <a:prstGeom prst="rect">
            <a:avLst/>
          </a:prstGeom>
        </p:spPr>
      </p:pic>
      <p:sp>
        <p:nvSpPr>
          <p:cNvPr id="33" name="Text 23"/>
          <p:cNvSpPr/>
          <p:nvPr/>
        </p:nvSpPr>
        <p:spPr>
          <a:xfrm>
            <a:off x="5036344" y="2526153"/>
            <a:ext cx="235743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Ngăn chặn truy cập chéo qua JWT Claims.</a:t>
            </a:r>
            <a:endParaRPr lang="en-US" sz="784" dirty="0"/>
          </a:p>
        </p:txBody>
      </p:sp>
      <p:pic>
        <p:nvPicPr>
          <p:cNvPr id="34" name="Image 8" descr="preencoded.png">    </p:cNvPr>
          <p:cNvPicPr>
            <a:picLocks noChangeAspect="1"/>
          </p:cNvPicPr>
          <p:nvPr/>
        </p:nvPicPr>
        <p:blipFill>
          <a:blip r:embed="rId9"/>
          <a:stretch>
            <a:fillRect/>
          </a:stretch>
        </p:blipFill>
        <p:spPr>
          <a:xfrm>
            <a:off x="4807744" y="2746716"/>
            <a:ext cx="142875" cy="114300"/>
          </a:xfrm>
          <a:prstGeom prst="rect">
            <a:avLst/>
          </a:prstGeom>
        </p:spPr>
      </p:pic>
      <p:sp>
        <p:nvSpPr>
          <p:cNvPr id="35" name="Text 24"/>
          <p:cNvSpPr/>
          <p:nvPr/>
        </p:nvSpPr>
        <p:spPr>
          <a:xfrm>
            <a:off x="5036344" y="2735107"/>
            <a:ext cx="257175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AOP Aspect kiểm tra quyền sở hữu tài nguyên.</a:t>
            </a:r>
            <a:endParaRPr lang="en-US" sz="78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7. THIẾT KẾ CƠ SỞ DỮ LIỆU (ERD)</a:t>
            </a:r>
            <a:endParaRPr lang="en-US" sz="1602" dirty="0"/>
          </a:p>
        </p:txBody>
      </p:sp>
      <p:pic>
        <p:nvPicPr>
          <p:cNvPr id="4" name="Image 1" descr="preencoded.png">    </p:cNvPr>
          <p:cNvPicPr>
            <a:picLocks noChangeAspect="1"/>
          </p:cNvPicPr>
          <p:nvPr/>
        </p:nvPicPr>
        <p:blipFill>
          <a:blip r:embed="rId2"/>
          <a:stretch>
            <a:fillRect/>
          </a:stretch>
        </p:blipFill>
        <p:spPr>
          <a:xfrm>
            <a:off x="571500" y="1198783"/>
            <a:ext cx="157163" cy="157163"/>
          </a:xfrm>
          <a:prstGeom prst="rect">
            <a:avLst/>
          </a:prstGeom>
        </p:spPr>
      </p:pic>
      <p:sp>
        <p:nvSpPr>
          <p:cNvPr id="5" name="Text 1"/>
          <p:cNvSpPr/>
          <p:nvPr/>
        </p:nvSpPr>
        <p:spPr>
          <a:xfrm>
            <a:off x="814388" y="1182709"/>
            <a:ext cx="1755577"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Cấu trúc 13 bảng chính</a:t>
            </a:r>
            <a:endParaRPr lang="en-US" sz="1090" dirty="0"/>
          </a:p>
        </p:txBody>
      </p:sp>
      <p:sp>
        <p:nvSpPr>
          <p:cNvPr id="6" name="Shape 2"/>
          <p:cNvSpPr/>
          <p:nvPr/>
        </p:nvSpPr>
        <p:spPr>
          <a:xfrm>
            <a:off x="571500" y="1514894"/>
            <a:ext cx="2031085" cy="292894"/>
          </a:xfrm>
          <a:prstGeom prst="rect">
            <a:avLst/>
          </a:prstGeom>
          <a:solidFill>
            <a:srgbClr val="F5F3FF"/>
          </a:solidFill>
          <a:ln/>
        </p:spPr>
      </p:sp>
      <p:pic>
        <p:nvPicPr>
          <p:cNvPr id="7" name="Image 2" descr="preencoded.png">    </p:cNvPr>
          <p:cNvPicPr>
            <a:picLocks noChangeAspect="1"/>
          </p:cNvPicPr>
          <p:nvPr/>
        </p:nvPicPr>
        <p:blipFill>
          <a:blip r:embed="rId3"/>
          <a:stretch>
            <a:fillRect/>
          </a:stretch>
        </p:blipFill>
        <p:spPr>
          <a:xfrm>
            <a:off x="678656" y="1611334"/>
            <a:ext cx="114300" cy="100013"/>
          </a:xfrm>
          <a:prstGeom prst="rect">
            <a:avLst/>
          </a:prstGeom>
        </p:spPr>
      </p:pic>
      <p:sp>
        <p:nvSpPr>
          <p:cNvPr id="8" name="Text 3"/>
          <p:cNvSpPr/>
          <p:nvPr/>
        </p:nvSpPr>
        <p:spPr>
          <a:xfrm>
            <a:off x="864394" y="1600619"/>
            <a:ext cx="346472"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tenants</a:t>
            </a:r>
            <a:endParaRPr lang="en-US" sz="727" dirty="0"/>
          </a:p>
        </p:txBody>
      </p:sp>
      <p:sp>
        <p:nvSpPr>
          <p:cNvPr id="9" name="Shape 4"/>
          <p:cNvSpPr/>
          <p:nvPr/>
        </p:nvSpPr>
        <p:spPr>
          <a:xfrm>
            <a:off x="2709742" y="1514894"/>
            <a:ext cx="2031085" cy="292894"/>
          </a:xfrm>
          <a:prstGeom prst="rect">
            <a:avLst/>
          </a:prstGeom>
          <a:solidFill>
            <a:srgbClr val="F5F3FF"/>
          </a:solidFill>
          <a:ln/>
        </p:spPr>
      </p:sp>
      <p:pic>
        <p:nvPicPr>
          <p:cNvPr id="10" name="Image 3" descr="preencoded.png">    </p:cNvPr>
          <p:cNvPicPr>
            <a:picLocks noChangeAspect="1"/>
          </p:cNvPicPr>
          <p:nvPr/>
        </p:nvPicPr>
        <p:blipFill>
          <a:blip r:embed="rId4"/>
          <a:stretch>
            <a:fillRect/>
          </a:stretch>
        </p:blipFill>
        <p:spPr>
          <a:xfrm>
            <a:off x="2816898" y="1611334"/>
            <a:ext cx="114300" cy="100013"/>
          </a:xfrm>
          <a:prstGeom prst="rect">
            <a:avLst/>
          </a:prstGeom>
        </p:spPr>
      </p:pic>
      <p:sp>
        <p:nvSpPr>
          <p:cNvPr id="11" name="Text 5"/>
          <p:cNvSpPr/>
          <p:nvPr/>
        </p:nvSpPr>
        <p:spPr>
          <a:xfrm>
            <a:off x="3002635" y="1600619"/>
            <a:ext cx="233958"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roles</a:t>
            </a:r>
            <a:endParaRPr lang="en-US" sz="727" dirty="0"/>
          </a:p>
        </p:txBody>
      </p:sp>
      <p:sp>
        <p:nvSpPr>
          <p:cNvPr id="12" name="Shape 6"/>
          <p:cNvSpPr/>
          <p:nvPr/>
        </p:nvSpPr>
        <p:spPr>
          <a:xfrm>
            <a:off x="571500" y="1914944"/>
            <a:ext cx="2031085" cy="292894"/>
          </a:xfrm>
          <a:prstGeom prst="rect">
            <a:avLst/>
          </a:prstGeom>
          <a:solidFill>
            <a:srgbClr val="F5F3FF"/>
          </a:solidFill>
          <a:ln/>
        </p:spPr>
      </p:sp>
      <p:pic>
        <p:nvPicPr>
          <p:cNvPr id="13" name="Image 4" descr="preencoded.png">    </p:cNvPr>
          <p:cNvPicPr>
            <a:picLocks noChangeAspect="1"/>
          </p:cNvPicPr>
          <p:nvPr/>
        </p:nvPicPr>
        <p:blipFill>
          <a:blip r:embed="rId5"/>
          <a:stretch>
            <a:fillRect/>
          </a:stretch>
        </p:blipFill>
        <p:spPr>
          <a:xfrm>
            <a:off x="678656" y="2011384"/>
            <a:ext cx="114300" cy="100013"/>
          </a:xfrm>
          <a:prstGeom prst="rect">
            <a:avLst/>
          </a:prstGeom>
        </p:spPr>
      </p:pic>
      <p:sp>
        <p:nvSpPr>
          <p:cNvPr id="14" name="Text 7"/>
          <p:cNvSpPr/>
          <p:nvPr/>
        </p:nvSpPr>
        <p:spPr>
          <a:xfrm>
            <a:off x="864394" y="2000669"/>
            <a:ext cx="576858"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permissions</a:t>
            </a:r>
            <a:endParaRPr lang="en-US" sz="727" dirty="0"/>
          </a:p>
        </p:txBody>
      </p:sp>
      <p:sp>
        <p:nvSpPr>
          <p:cNvPr id="15" name="Shape 8"/>
          <p:cNvSpPr/>
          <p:nvPr/>
        </p:nvSpPr>
        <p:spPr>
          <a:xfrm>
            <a:off x="2709742" y="1914944"/>
            <a:ext cx="2031085" cy="292894"/>
          </a:xfrm>
          <a:prstGeom prst="rect">
            <a:avLst/>
          </a:prstGeom>
          <a:solidFill>
            <a:srgbClr val="F5F3FF"/>
          </a:solidFill>
          <a:ln/>
        </p:spPr>
      </p:sp>
      <p:pic>
        <p:nvPicPr>
          <p:cNvPr id="16" name="Image 5" descr="preencoded.png">    </p:cNvPr>
          <p:cNvPicPr>
            <a:picLocks noChangeAspect="1"/>
          </p:cNvPicPr>
          <p:nvPr/>
        </p:nvPicPr>
        <p:blipFill>
          <a:blip r:embed="rId6"/>
          <a:stretch>
            <a:fillRect/>
          </a:stretch>
        </p:blipFill>
        <p:spPr>
          <a:xfrm>
            <a:off x="2816898" y="2011384"/>
            <a:ext cx="114300" cy="100013"/>
          </a:xfrm>
          <a:prstGeom prst="rect">
            <a:avLst/>
          </a:prstGeom>
        </p:spPr>
      </p:pic>
      <p:sp>
        <p:nvSpPr>
          <p:cNvPr id="17" name="Text 9"/>
          <p:cNvSpPr/>
          <p:nvPr/>
        </p:nvSpPr>
        <p:spPr>
          <a:xfrm>
            <a:off x="3002635" y="2000669"/>
            <a:ext cx="262533"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users</a:t>
            </a:r>
            <a:endParaRPr lang="en-US" sz="727" dirty="0"/>
          </a:p>
        </p:txBody>
      </p:sp>
      <p:sp>
        <p:nvSpPr>
          <p:cNvPr id="18" name="Shape 10"/>
          <p:cNvSpPr/>
          <p:nvPr/>
        </p:nvSpPr>
        <p:spPr>
          <a:xfrm>
            <a:off x="571500" y="2314994"/>
            <a:ext cx="2031085" cy="292894"/>
          </a:xfrm>
          <a:prstGeom prst="rect">
            <a:avLst/>
          </a:prstGeom>
          <a:solidFill>
            <a:srgbClr val="F5F3FF"/>
          </a:solidFill>
          <a:ln/>
        </p:spPr>
      </p:sp>
      <p:pic>
        <p:nvPicPr>
          <p:cNvPr id="19" name="Image 6" descr="preencoded.png">    </p:cNvPr>
          <p:cNvPicPr>
            <a:picLocks noChangeAspect="1"/>
          </p:cNvPicPr>
          <p:nvPr/>
        </p:nvPicPr>
        <p:blipFill>
          <a:blip r:embed="rId7"/>
          <a:stretch>
            <a:fillRect/>
          </a:stretch>
        </p:blipFill>
        <p:spPr>
          <a:xfrm>
            <a:off x="678656" y="2411434"/>
            <a:ext cx="114300" cy="100013"/>
          </a:xfrm>
          <a:prstGeom prst="rect">
            <a:avLst/>
          </a:prstGeom>
        </p:spPr>
      </p:pic>
      <p:sp>
        <p:nvSpPr>
          <p:cNvPr id="20" name="Text 11"/>
          <p:cNvSpPr/>
          <p:nvPr/>
        </p:nvSpPr>
        <p:spPr>
          <a:xfrm>
            <a:off x="864394" y="2400719"/>
            <a:ext cx="298252"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rooms</a:t>
            </a:r>
            <a:endParaRPr lang="en-US" sz="727" dirty="0"/>
          </a:p>
        </p:txBody>
      </p:sp>
      <p:sp>
        <p:nvSpPr>
          <p:cNvPr id="21" name="Shape 12"/>
          <p:cNvSpPr/>
          <p:nvPr/>
        </p:nvSpPr>
        <p:spPr>
          <a:xfrm>
            <a:off x="2709742" y="2314994"/>
            <a:ext cx="2031085" cy="292894"/>
          </a:xfrm>
          <a:prstGeom prst="rect">
            <a:avLst/>
          </a:prstGeom>
          <a:solidFill>
            <a:srgbClr val="F5F3FF"/>
          </a:solidFill>
          <a:ln/>
        </p:spPr>
      </p:sp>
      <p:pic>
        <p:nvPicPr>
          <p:cNvPr id="22" name="Image 7" descr="preencoded.png">    </p:cNvPr>
          <p:cNvPicPr>
            <a:picLocks noChangeAspect="1"/>
          </p:cNvPicPr>
          <p:nvPr/>
        </p:nvPicPr>
        <p:blipFill>
          <a:blip r:embed="rId8"/>
          <a:stretch>
            <a:fillRect/>
          </a:stretch>
        </p:blipFill>
        <p:spPr>
          <a:xfrm>
            <a:off x="2816898" y="2411434"/>
            <a:ext cx="114300" cy="100013"/>
          </a:xfrm>
          <a:prstGeom prst="rect">
            <a:avLst/>
          </a:prstGeom>
        </p:spPr>
      </p:pic>
      <p:sp>
        <p:nvSpPr>
          <p:cNvPr id="23" name="Text 13"/>
          <p:cNvSpPr/>
          <p:nvPr/>
        </p:nvSpPr>
        <p:spPr>
          <a:xfrm>
            <a:off x="3002635" y="2400719"/>
            <a:ext cx="435769"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residents</a:t>
            </a:r>
            <a:endParaRPr lang="en-US" sz="727" dirty="0"/>
          </a:p>
        </p:txBody>
      </p:sp>
      <p:sp>
        <p:nvSpPr>
          <p:cNvPr id="24" name="Shape 14"/>
          <p:cNvSpPr/>
          <p:nvPr/>
        </p:nvSpPr>
        <p:spPr>
          <a:xfrm>
            <a:off x="571500" y="2715044"/>
            <a:ext cx="2031085" cy="292894"/>
          </a:xfrm>
          <a:prstGeom prst="rect">
            <a:avLst/>
          </a:prstGeom>
          <a:solidFill>
            <a:srgbClr val="F5F3FF"/>
          </a:solidFill>
          <a:ln/>
        </p:spPr>
      </p:sp>
      <p:pic>
        <p:nvPicPr>
          <p:cNvPr id="25" name="Image 8" descr="preencoded.png">    </p:cNvPr>
          <p:cNvPicPr>
            <a:picLocks noChangeAspect="1"/>
          </p:cNvPicPr>
          <p:nvPr/>
        </p:nvPicPr>
        <p:blipFill>
          <a:blip r:embed="rId9"/>
          <a:stretch>
            <a:fillRect/>
          </a:stretch>
        </p:blipFill>
        <p:spPr>
          <a:xfrm>
            <a:off x="678656" y="2811484"/>
            <a:ext cx="114300" cy="100013"/>
          </a:xfrm>
          <a:prstGeom prst="rect">
            <a:avLst/>
          </a:prstGeom>
        </p:spPr>
      </p:pic>
      <p:sp>
        <p:nvSpPr>
          <p:cNvPr id="26" name="Text 15"/>
          <p:cNvSpPr/>
          <p:nvPr/>
        </p:nvSpPr>
        <p:spPr>
          <a:xfrm>
            <a:off x="864394" y="2800769"/>
            <a:ext cx="442913"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contracts</a:t>
            </a:r>
            <a:endParaRPr lang="en-US" sz="727" dirty="0"/>
          </a:p>
        </p:txBody>
      </p:sp>
      <p:sp>
        <p:nvSpPr>
          <p:cNvPr id="27" name="Shape 16"/>
          <p:cNvSpPr/>
          <p:nvPr/>
        </p:nvSpPr>
        <p:spPr>
          <a:xfrm>
            <a:off x="2709742" y="2715044"/>
            <a:ext cx="2031085" cy="292894"/>
          </a:xfrm>
          <a:prstGeom prst="rect">
            <a:avLst/>
          </a:prstGeom>
          <a:solidFill>
            <a:srgbClr val="F5F3FF"/>
          </a:solidFill>
          <a:ln/>
        </p:spPr>
      </p:sp>
      <p:pic>
        <p:nvPicPr>
          <p:cNvPr id="28" name="Image 9" descr="preencoded.png">    </p:cNvPr>
          <p:cNvPicPr>
            <a:picLocks noChangeAspect="1"/>
          </p:cNvPicPr>
          <p:nvPr/>
        </p:nvPicPr>
        <p:blipFill>
          <a:blip r:embed="rId10"/>
          <a:stretch>
            <a:fillRect/>
          </a:stretch>
        </p:blipFill>
        <p:spPr>
          <a:xfrm>
            <a:off x="2816898" y="2811484"/>
            <a:ext cx="114300" cy="100013"/>
          </a:xfrm>
          <a:prstGeom prst="rect">
            <a:avLst/>
          </a:prstGeom>
        </p:spPr>
      </p:pic>
      <p:sp>
        <p:nvSpPr>
          <p:cNvPr id="29" name="Text 17"/>
          <p:cNvSpPr/>
          <p:nvPr/>
        </p:nvSpPr>
        <p:spPr>
          <a:xfrm>
            <a:off x="3002635" y="2800769"/>
            <a:ext cx="189309"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bills</a:t>
            </a:r>
            <a:endParaRPr lang="en-US" sz="727" dirty="0"/>
          </a:p>
        </p:txBody>
      </p:sp>
      <p:sp>
        <p:nvSpPr>
          <p:cNvPr id="30" name="Shape 18"/>
          <p:cNvSpPr/>
          <p:nvPr/>
        </p:nvSpPr>
        <p:spPr>
          <a:xfrm>
            <a:off x="571500" y="3115094"/>
            <a:ext cx="2031085" cy="292894"/>
          </a:xfrm>
          <a:prstGeom prst="rect">
            <a:avLst/>
          </a:prstGeom>
          <a:solidFill>
            <a:srgbClr val="F5F3FF"/>
          </a:solidFill>
          <a:ln/>
        </p:spPr>
      </p:sp>
      <p:pic>
        <p:nvPicPr>
          <p:cNvPr id="31" name="Image 10" descr="preencoded.png">    </p:cNvPr>
          <p:cNvPicPr>
            <a:picLocks noChangeAspect="1"/>
          </p:cNvPicPr>
          <p:nvPr/>
        </p:nvPicPr>
        <p:blipFill>
          <a:blip r:embed="rId11"/>
          <a:stretch>
            <a:fillRect/>
          </a:stretch>
        </p:blipFill>
        <p:spPr>
          <a:xfrm>
            <a:off x="678656" y="3211534"/>
            <a:ext cx="114300" cy="100013"/>
          </a:xfrm>
          <a:prstGeom prst="rect">
            <a:avLst/>
          </a:prstGeom>
        </p:spPr>
      </p:pic>
      <p:sp>
        <p:nvSpPr>
          <p:cNvPr id="32" name="Text 19"/>
          <p:cNvSpPr/>
          <p:nvPr/>
        </p:nvSpPr>
        <p:spPr>
          <a:xfrm>
            <a:off x="864394" y="3200819"/>
            <a:ext cx="734020"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meter_readings</a:t>
            </a:r>
            <a:endParaRPr lang="en-US" sz="727" dirty="0"/>
          </a:p>
        </p:txBody>
      </p:sp>
      <p:sp>
        <p:nvSpPr>
          <p:cNvPr id="33" name="Shape 20"/>
          <p:cNvSpPr/>
          <p:nvPr/>
        </p:nvSpPr>
        <p:spPr>
          <a:xfrm>
            <a:off x="2709742" y="3115094"/>
            <a:ext cx="2031085" cy="292894"/>
          </a:xfrm>
          <a:prstGeom prst="rect">
            <a:avLst/>
          </a:prstGeom>
          <a:solidFill>
            <a:srgbClr val="F5F3FF"/>
          </a:solidFill>
          <a:ln/>
        </p:spPr>
      </p:sp>
      <p:pic>
        <p:nvPicPr>
          <p:cNvPr id="34" name="Image 11" descr="preencoded.png">    </p:cNvPr>
          <p:cNvPicPr>
            <a:picLocks noChangeAspect="1"/>
          </p:cNvPicPr>
          <p:nvPr/>
        </p:nvPicPr>
        <p:blipFill>
          <a:blip r:embed="rId12"/>
          <a:stretch>
            <a:fillRect/>
          </a:stretch>
        </p:blipFill>
        <p:spPr>
          <a:xfrm>
            <a:off x="2816898" y="3211534"/>
            <a:ext cx="114300" cy="100013"/>
          </a:xfrm>
          <a:prstGeom prst="rect">
            <a:avLst/>
          </a:prstGeom>
        </p:spPr>
      </p:pic>
      <p:sp>
        <p:nvSpPr>
          <p:cNvPr id="35" name="Text 21"/>
          <p:cNvSpPr/>
          <p:nvPr/>
        </p:nvSpPr>
        <p:spPr>
          <a:xfrm>
            <a:off x="3002635" y="3200819"/>
            <a:ext cx="584002"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notifications</a:t>
            </a:r>
            <a:endParaRPr lang="en-US" sz="727" dirty="0"/>
          </a:p>
        </p:txBody>
      </p:sp>
      <p:sp>
        <p:nvSpPr>
          <p:cNvPr id="36" name="Shape 22"/>
          <p:cNvSpPr/>
          <p:nvPr/>
        </p:nvSpPr>
        <p:spPr>
          <a:xfrm>
            <a:off x="571500" y="3515144"/>
            <a:ext cx="2031085" cy="292894"/>
          </a:xfrm>
          <a:prstGeom prst="rect">
            <a:avLst/>
          </a:prstGeom>
          <a:solidFill>
            <a:srgbClr val="F5F3FF"/>
          </a:solidFill>
          <a:ln/>
        </p:spPr>
      </p:sp>
      <p:pic>
        <p:nvPicPr>
          <p:cNvPr id="37" name="Image 12" descr="preencoded.png">    </p:cNvPr>
          <p:cNvPicPr>
            <a:picLocks noChangeAspect="1"/>
          </p:cNvPicPr>
          <p:nvPr/>
        </p:nvPicPr>
        <p:blipFill>
          <a:blip r:embed="rId13"/>
          <a:stretch>
            <a:fillRect/>
          </a:stretch>
        </p:blipFill>
        <p:spPr>
          <a:xfrm>
            <a:off x="678656" y="3611584"/>
            <a:ext cx="114300" cy="100013"/>
          </a:xfrm>
          <a:prstGeom prst="rect">
            <a:avLst/>
          </a:prstGeom>
        </p:spPr>
      </p:pic>
      <p:sp>
        <p:nvSpPr>
          <p:cNvPr id="38" name="Text 23"/>
          <p:cNvSpPr/>
          <p:nvPr/>
        </p:nvSpPr>
        <p:spPr>
          <a:xfrm>
            <a:off x="864394" y="3600869"/>
            <a:ext cx="596503"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room_assets</a:t>
            </a:r>
            <a:endParaRPr lang="en-US" sz="727" dirty="0"/>
          </a:p>
        </p:txBody>
      </p:sp>
      <p:sp>
        <p:nvSpPr>
          <p:cNvPr id="39" name="Shape 24"/>
          <p:cNvSpPr/>
          <p:nvPr/>
        </p:nvSpPr>
        <p:spPr>
          <a:xfrm>
            <a:off x="2709742" y="3515144"/>
            <a:ext cx="2031085" cy="292894"/>
          </a:xfrm>
          <a:prstGeom prst="rect">
            <a:avLst/>
          </a:prstGeom>
          <a:solidFill>
            <a:srgbClr val="F5F3FF"/>
          </a:solidFill>
          <a:ln/>
        </p:spPr>
      </p:sp>
      <p:pic>
        <p:nvPicPr>
          <p:cNvPr id="40" name="Image 13" descr="preencoded.png">    </p:cNvPr>
          <p:cNvPicPr>
            <a:picLocks noChangeAspect="1"/>
          </p:cNvPicPr>
          <p:nvPr/>
        </p:nvPicPr>
        <p:blipFill>
          <a:blip r:embed="rId14"/>
          <a:stretch>
            <a:fillRect/>
          </a:stretch>
        </p:blipFill>
        <p:spPr>
          <a:xfrm>
            <a:off x="2816898" y="3611584"/>
            <a:ext cx="114300" cy="100013"/>
          </a:xfrm>
          <a:prstGeom prst="rect">
            <a:avLst/>
          </a:prstGeom>
        </p:spPr>
      </p:pic>
      <p:sp>
        <p:nvSpPr>
          <p:cNvPr id="41" name="Text 25"/>
          <p:cNvSpPr/>
          <p:nvPr/>
        </p:nvSpPr>
        <p:spPr>
          <a:xfrm>
            <a:off x="3002635" y="3600869"/>
            <a:ext cx="310753"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1E1B4B"/>
                </a:solidFill>
                <a:latin typeface="Inter" pitchFamily="34" charset="0"/>
                <a:ea typeface="Inter" pitchFamily="34" charset="-122"/>
                <a:cs typeface="Inter" pitchFamily="34" charset="-120"/>
              </a:rPr>
              <a:t>tickets</a:t>
            </a:r>
            <a:endParaRPr lang="en-US" sz="727" dirty="0"/>
          </a:p>
        </p:txBody>
      </p:sp>
      <p:sp>
        <p:nvSpPr>
          <p:cNvPr id="42" name="Shape 26"/>
          <p:cNvSpPr/>
          <p:nvPr/>
        </p:nvSpPr>
        <p:spPr>
          <a:xfrm>
            <a:off x="571500" y="3986631"/>
            <a:ext cx="4169327" cy="920065"/>
          </a:xfrm>
          <a:prstGeom prst="rect">
            <a:avLst/>
          </a:prstGeom>
          <a:solidFill>
            <a:srgbClr val="F9FAFB"/>
          </a:solidFill>
          <a:ln/>
        </p:spPr>
      </p:sp>
      <p:sp>
        <p:nvSpPr>
          <p:cNvPr id="43" name="Shape 27"/>
          <p:cNvSpPr/>
          <p:nvPr/>
        </p:nvSpPr>
        <p:spPr>
          <a:xfrm>
            <a:off x="571500" y="3986631"/>
            <a:ext cx="28575" cy="920065"/>
          </a:xfrm>
          <a:prstGeom prst="rect">
            <a:avLst/>
          </a:prstGeom>
          <a:solidFill>
            <a:srgbClr val="1E1B4B"/>
          </a:solidFill>
          <a:ln/>
        </p:spPr>
      </p:sp>
      <p:sp>
        <p:nvSpPr>
          <p:cNvPr id="44" name="Text 28"/>
          <p:cNvSpPr/>
          <p:nvPr/>
        </p:nvSpPr>
        <p:spPr>
          <a:xfrm>
            <a:off x="714375" y="4129506"/>
            <a:ext cx="3883577"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4F46E5"/>
                </a:solidFill>
                <a:latin typeface="Inter" pitchFamily="34" charset="0"/>
                <a:ea typeface="Inter" pitchFamily="34" charset="-122"/>
                <a:cs typeface="Inter" pitchFamily="34" charset="-120"/>
              </a:rPr>
              <a:t>1 Tenant</a:t>
            </a:r>
            <a:r>
              <a:rPr lang="en-US" sz="727" dirty="0">
                <a:solidFill>
                  <a:srgbClr val="1E1B4B"/>
                </a:solidFill>
                <a:latin typeface="Inter" pitchFamily="34" charset="0"/>
                <a:ea typeface="Inter" pitchFamily="34" charset="-122"/>
                <a:cs typeface="Inter" pitchFamily="34" charset="-120"/>
              </a:rPr>
              <a:t> → Quản lý nhiều Rooms, Users, Residents.</a:t>
            </a:r>
            <a:endParaRPr lang="en-US" sz="683" dirty="0"/>
          </a:p>
        </p:txBody>
      </p:sp>
      <p:sp>
        <p:nvSpPr>
          <p:cNvPr id="45" name="Text 29"/>
          <p:cNvSpPr/>
          <p:nvPr/>
        </p:nvSpPr>
        <p:spPr>
          <a:xfrm>
            <a:off x="714375" y="4340944"/>
            <a:ext cx="3883577"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4F46E5"/>
                </a:solidFill>
                <a:latin typeface="Inter" pitchFamily="34" charset="0"/>
                <a:ea typeface="Inter" pitchFamily="34" charset="-122"/>
                <a:cs typeface="Inter" pitchFamily="34" charset="-120"/>
              </a:rPr>
              <a:t>1 Contract</a:t>
            </a:r>
            <a:r>
              <a:rPr lang="en-US" sz="727" dirty="0">
                <a:solidFill>
                  <a:srgbClr val="1E1B4B"/>
                </a:solidFill>
                <a:latin typeface="Inter" pitchFamily="34" charset="0"/>
                <a:ea typeface="Inter" pitchFamily="34" charset="-122"/>
                <a:cs typeface="Inter" pitchFamily="34" charset="-120"/>
              </a:rPr>
              <a:t> → Liên kết duy nhất 1 Room và 1 Resident.</a:t>
            </a:r>
            <a:endParaRPr lang="en-US" sz="683" dirty="0"/>
          </a:p>
        </p:txBody>
      </p:sp>
      <p:sp>
        <p:nvSpPr>
          <p:cNvPr id="46" name="Text 30"/>
          <p:cNvSpPr/>
          <p:nvPr/>
        </p:nvSpPr>
        <p:spPr>
          <a:xfrm>
            <a:off x="714375" y="4552383"/>
            <a:ext cx="3883577"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4F46E5"/>
                </a:solidFill>
                <a:latin typeface="Inter" pitchFamily="34" charset="0"/>
                <a:ea typeface="Inter" pitchFamily="34" charset="-122"/>
                <a:cs typeface="Inter" pitchFamily="34" charset="-120"/>
              </a:rPr>
              <a:t>1 Room</a:t>
            </a:r>
            <a:r>
              <a:rPr lang="en-US" sz="727" dirty="0">
                <a:solidFill>
                  <a:srgbClr val="1E1B4B"/>
                </a:solidFill>
                <a:latin typeface="Inter" pitchFamily="34" charset="0"/>
                <a:ea typeface="Inter" pitchFamily="34" charset="-122"/>
                <a:cs typeface="Inter" pitchFamily="34" charset="-120"/>
              </a:rPr>
              <a:t> → Chứa nhiều Bills, MeterReadings, Assets.</a:t>
            </a:r>
            <a:endParaRPr lang="en-US" sz="683" dirty="0"/>
          </a:p>
        </p:txBody>
      </p:sp>
      <p:pic>
        <p:nvPicPr>
          <p:cNvPr id="47" name="Image 14" descr="preencoded.png">    </p:cNvPr>
          <p:cNvPicPr>
            <a:picLocks noChangeAspect="1"/>
          </p:cNvPicPr>
          <p:nvPr/>
        </p:nvPicPr>
        <p:blipFill>
          <a:blip r:embed="rId15"/>
          <a:stretch>
            <a:fillRect/>
          </a:stretch>
        </p:blipFill>
        <p:spPr>
          <a:xfrm>
            <a:off x="5098014" y="1198783"/>
            <a:ext cx="137517" cy="157163"/>
          </a:xfrm>
          <a:prstGeom prst="rect">
            <a:avLst/>
          </a:prstGeom>
        </p:spPr>
      </p:pic>
      <p:sp>
        <p:nvSpPr>
          <p:cNvPr id="48" name="Text 31"/>
          <p:cNvSpPr/>
          <p:nvPr/>
        </p:nvSpPr>
        <p:spPr>
          <a:xfrm>
            <a:off x="5321257" y="1182709"/>
            <a:ext cx="1360884"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Quản lý Migration</a:t>
            </a:r>
            <a:endParaRPr lang="en-US" sz="1090" dirty="0"/>
          </a:p>
        </p:txBody>
      </p:sp>
      <p:sp>
        <p:nvSpPr>
          <p:cNvPr id="49" name="Text 32"/>
          <p:cNvSpPr/>
          <p:nvPr/>
        </p:nvSpPr>
        <p:spPr>
          <a:xfrm>
            <a:off x="5098014" y="1514894"/>
            <a:ext cx="3474458"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4B5563"/>
                </a:solidFill>
                <a:latin typeface="Inter" pitchFamily="34" charset="0"/>
                <a:ea typeface="Inter" pitchFamily="34" charset="-122"/>
                <a:cs typeface="Inter" pitchFamily="34" charset="-120"/>
              </a:rPr>
              <a:t>Sử dụng </a:t>
            </a:r>
            <a:r>
              <a:rPr lang="en-US" sz="683" b="1" dirty="0">
                <a:solidFill>
                  <a:srgbClr val="4B5563"/>
                </a:solidFill>
                <a:latin typeface="Inter" pitchFamily="34" charset="0"/>
                <a:ea typeface="Inter" pitchFamily="34" charset="-122"/>
                <a:cs typeface="Inter" pitchFamily="34" charset="-120"/>
              </a:rPr>
              <a:t>Flyway</a:t>
            </a:r>
            <a:r>
              <a:rPr lang="en-US" sz="727" dirty="0">
                <a:solidFill>
                  <a:srgbClr val="4B5563"/>
                </a:solidFill>
                <a:latin typeface="Inter" pitchFamily="34" charset="0"/>
                <a:ea typeface="Inter" pitchFamily="34" charset="-122"/>
                <a:cs typeface="Inter" pitchFamily="34" charset="-120"/>
              </a:rPr>
              <a:t> để đồng bộ hóa cấu trúc Database giữa các môi trường </a:t>
            </a:r>
            <a:r>
              <a:rPr lang="en-US" sz="727" dirty="0">
                <a:solidFill>
                  <a:srgbClr val="4B5563"/>
                </a:solidFill>
                <a:latin typeface="Inter" pitchFamily="34" charset="0"/>
                <a:ea typeface="Inter" pitchFamily="34" charset="-122"/>
                <a:cs typeface="Inter" pitchFamily="34" charset="-120"/>
              </a:rPr>
              <a:t>phát triển.</a:t>
            </a:r>
            <a:endParaRPr lang="en-US" sz="727" dirty="0"/>
          </a:p>
        </p:txBody>
      </p:sp>
      <p:sp>
        <p:nvSpPr>
          <p:cNvPr id="50" name="Shape 33"/>
          <p:cNvSpPr/>
          <p:nvPr/>
        </p:nvSpPr>
        <p:spPr>
          <a:xfrm>
            <a:off x="5098014" y="1948653"/>
            <a:ext cx="200025" cy="200025"/>
          </a:xfrm>
          <a:prstGeom prst="rect">
            <a:avLst/>
          </a:prstGeom>
          <a:solidFill>
            <a:srgbClr val="4F46E5"/>
          </a:solidFill>
          <a:ln/>
        </p:spPr>
      </p:sp>
      <p:sp>
        <p:nvSpPr>
          <p:cNvPr id="51" name="Text 34"/>
          <p:cNvSpPr/>
          <p:nvPr/>
        </p:nvSpPr>
        <p:spPr>
          <a:xfrm>
            <a:off x="5098014" y="1948653"/>
            <a:ext cx="200025" cy="200025"/>
          </a:xfrm>
          <a:prstGeom prst="rect">
            <a:avLst/>
          </a:prstGeom>
          <a:noFill/>
          <a:ln/>
        </p:spPr>
        <p:txBody>
          <a:bodyPr wrap="square" lIns="0" tIns="0" rIns="0" bIns="0" rtlCol="0" anchor="ctr">
            <a:spAutoFit/>
          </a:bodyPr>
          <a:lstStyle/>
          <a:p>
            <a:pPr algn="ctr" indent="0" marL="0">
              <a:lnSpc>
                <a:spcPts val="900"/>
              </a:lnSpc>
              <a:buNone/>
            </a:pPr>
            <a:r>
              <a:rPr lang="en-US" sz="683" b="1" dirty="0">
                <a:solidFill>
                  <a:srgbClr val="FFFFFF"/>
                </a:solidFill>
                <a:latin typeface="Inter" pitchFamily="34" charset="0"/>
                <a:ea typeface="Inter" pitchFamily="34" charset="-122"/>
                <a:cs typeface="Inter" pitchFamily="34" charset="-120"/>
              </a:rPr>
              <a:t>1</a:t>
            </a:r>
            <a:endParaRPr lang="en-US" sz="683" dirty="0"/>
          </a:p>
        </p:txBody>
      </p:sp>
      <p:sp>
        <p:nvSpPr>
          <p:cNvPr id="52" name="Text 35"/>
          <p:cNvSpPr/>
          <p:nvPr/>
        </p:nvSpPr>
        <p:spPr>
          <a:xfrm>
            <a:off x="5383764" y="1948653"/>
            <a:ext cx="318870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Version Control</a:t>
            </a:r>
            <a:endParaRPr lang="en-US" sz="784" dirty="0"/>
          </a:p>
        </p:txBody>
      </p:sp>
      <p:sp>
        <p:nvSpPr>
          <p:cNvPr id="53" name="Text 36"/>
          <p:cNvSpPr/>
          <p:nvPr/>
        </p:nvSpPr>
        <p:spPr>
          <a:xfrm>
            <a:off x="5383764" y="2179039"/>
            <a:ext cx="3188708" cy="130011"/>
          </a:xfrm>
          <a:prstGeom prst="rect">
            <a:avLst/>
          </a:prstGeom>
          <a:noFill/>
          <a:ln/>
        </p:spPr>
        <p:txBody>
          <a:bodyPr wrap="none" lIns="0" tIns="0" rIns="0" bIns="0" rtlCol="0" anchor="t">
            <a:spAutoFit/>
          </a:bodyPr>
          <a:lstStyle/>
          <a:p>
            <a:pPr algn="l" indent="0" marL="0">
              <a:lnSpc>
                <a:spcPts val="1000"/>
              </a:lnSpc>
              <a:buNone/>
            </a:pPr>
            <a:r>
              <a:rPr lang="en-US" sz="674" dirty="0">
                <a:solidFill>
                  <a:srgbClr val="4B5563"/>
                </a:solidFill>
                <a:latin typeface="Inter" pitchFamily="34" charset="0"/>
                <a:ea typeface="Inter" pitchFamily="34" charset="-122"/>
                <a:cs typeface="Inter" pitchFamily="34" charset="-120"/>
              </a:rPr>
              <a:t>Mọi thay đổi Schema được lưu thành các file .sql (V1__... đến V14__...).</a:t>
            </a:r>
            <a:endParaRPr lang="en-US" sz="674" dirty="0"/>
          </a:p>
        </p:txBody>
      </p:sp>
      <p:sp>
        <p:nvSpPr>
          <p:cNvPr id="54" name="Shape 37"/>
          <p:cNvSpPr/>
          <p:nvPr/>
        </p:nvSpPr>
        <p:spPr>
          <a:xfrm>
            <a:off x="5098014" y="2499922"/>
            <a:ext cx="200025" cy="200025"/>
          </a:xfrm>
          <a:prstGeom prst="rect">
            <a:avLst/>
          </a:prstGeom>
          <a:solidFill>
            <a:srgbClr val="4F46E5"/>
          </a:solidFill>
          <a:ln/>
        </p:spPr>
      </p:sp>
      <p:sp>
        <p:nvSpPr>
          <p:cNvPr id="55" name="Text 38"/>
          <p:cNvSpPr/>
          <p:nvPr/>
        </p:nvSpPr>
        <p:spPr>
          <a:xfrm>
            <a:off x="5098014" y="2499922"/>
            <a:ext cx="200025" cy="200025"/>
          </a:xfrm>
          <a:prstGeom prst="rect">
            <a:avLst/>
          </a:prstGeom>
          <a:noFill/>
          <a:ln/>
        </p:spPr>
        <p:txBody>
          <a:bodyPr wrap="square" lIns="0" tIns="0" rIns="0" bIns="0" rtlCol="0" anchor="ctr">
            <a:spAutoFit/>
          </a:bodyPr>
          <a:lstStyle/>
          <a:p>
            <a:pPr algn="ctr" indent="0" marL="0">
              <a:lnSpc>
                <a:spcPts val="900"/>
              </a:lnSpc>
              <a:buNone/>
            </a:pPr>
            <a:r>
              <a:rPr lang="en-US" sz="683" b="1" dirty="0">
                <a:solidFill>
                  <a:srgbClr val="FFFFFF"/>
                </a:solidFill>
                <a:latin typeface="Inter" pitchFamily="34" charset="0"/>
                <a:ea typeface="Inter" pitchFamily="34" charset="-122"/>
                <a:cs typeface="Inter" pitchFamily="34" charset="-120"/>
              </a:rPr>
              <a:t>2</a:t>
            </a:r>
            <a:endParaRPr lang="en-US" sz="683" dirty="0"/>
          </a:p>
        </p:txBody>
      </p:sp>
      <p:sp>
        <p:nvSpPr>
          <p:cNvPr id="56" name="Text 39"/>
          <p:cNvSpPr/>
          <p:nvPr/>
        </p:nvSpPr>
        <p:spPr>
          <a:xfrm>
            <a:off x="5383764" y="2499922"/>
            <a:ext cx="318870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Auto Migration</a:t>
            </a:r>
            <a:endParaRPr lang="en-US" sz="784" dirty="0"/>
          </a:p>
        </p:txBody>
      </p:sp>
      <p:sp>
        <p:nvSpPr>
          <p:cNvPr id="57" name="Text 40"/>
          <p:cNvSpPr/>
          <p:nvPr/>
        </p:nvSpPr>
        <p:spPr>
          <a:xfrm>
            <a:off x="5383764" y="2730308"/>
            <a:ext cx="3188708"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4B5563"/>
                </a:solidFill>
                <a:latin typeface="Inter" pitchFamily="34" charset="0"/>
                <a:ea typeface="Inter" pitchFamily="34" charset="-122"/>
                <a:cs typeface="Inter" pitchFamily="34" charset="-120"/>
              </a:rPr>
              <a:t>Hệ thống tự động quét và thực thi các script mới khi ứng dụng khởi động.</a:t>
            </a:r>
            <a:endParaRPr lang="en-US" sz="674" dirty="0"/>
          </a:p>
        </p:txBody>
      </p:sp>
      <p:sp>
        <p:nvSpPr>
          <p:cNvPr id="58" name="Shape 41"/>
          <p:cNvSpPr/>
          <p:nvPr/>
        </p:nvSpPr>
        <p:spPr>
          <a:xfrm>
            <a:off x="5098014" y="3181201"/>
            <a:ext cx="200025" cy="200025"/>
          </a:xfrm>
          <a:prstGeom prst="rect">
            <a:avLst/>
          </a:prstGeom>
          <a:solidFill>
            <a:srgbClr val="4F46E5"/>
          </a:solidFill>
          <a:ln/>
        </p:spPr>
      </p:sp>
      <p:sp>
        <p:nvSpPr>
          <p:cNvPr id="59" name="Text 42"/>
          <p:cNvSpPr/>
          <p:nvPr/>
        </p:nvSpPr>
        <p:spPr>
          <a:xfrm>
            <a:off x="5098014" y="3181201"/>
            <a:ext cx="200025" cy="200025"/>
          </a:xfrm>
          <a:prstGeom prst="rect">
            <a:avLst/>
          </a:prstGeom>
          <a:noFill/>
          <a:ln/>
        </p:spPr>
        <p:txBody>
          <a:bodyPr wrap="square" lIns="0" tIns="0" rIns="0" bIns="0" rtlCol="0" anchor="ctr">
            <a:spAutoFit/>
          </a:bodyPr>
          <a:lstStyle/>
          <a:p>
            <a:pPr algn="ctr" indent="0" marL="0">
              <a:lnSpc>
                <a:spcPts val="900"/>
              </a:lnSpc>
              <a:buNone/>
            </a:pPr>
            <a:r>
              <a:rPr lang="en-US" sz="683" b="1" dirty="0">
                <a:solidFill>
                  <a:srgbClr val="FFFFFF"/>
                </a:solidFill>
                <a:latin typeface="Inter" pitchFamily="34" charset="0"/>
                <a:ea typeface="Inter" pitchFamily="34" charset="-122"/>
                <a:cs typeface="Inter" pitchFamily="34" charset="-120"/>
              </a:rPr>
              <a:t>3</a:t>
            </a:r>
            <a:endParaRPr lang="en-US" sz="683" dirty="0"/>
          </a:p>
        </p:txBody>
      </p:sp>
      <p:sp>
        <p:nvSpPr>
          <p:cNvPr id="60" name="Text 43"/>
          <p:cNvSpPr/>
          <p:nvPr/>
        </p:nvSpPr>
        <p:spPr>
          <a:xfrm>
            <a:off x="5383764" y="3181201"/>
            <a:ext cx="318870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E1B4B"/>
                </a:solidFill>
                <a:latin typeface="Inter" pitchFamily="34" charset="0"/>
                <a:ea typeface="Inter" pitchFamily="34" charset="-122"/>
                <a:cs typeface="Inter" pitchFamily="34" charset="-120"/>
              </a:rPr>
              <a:t>Data Integrity</a:t>
            </a:r>
            <a:endParaRPr lang="en-US" sz="784" dirty="0"/>
          </a:p>
        </p:txBody>
      </p:sp>
      <p:sp>
        <p:nvSpPr>
          <p:cNvPr id="61" name="Text 44"/>
          <p:cNvSpPr/>
          <p:nvPr/>
        </p:nvSpPr>
        <p:spPr>
          <a:xfrm>
            <a:off x="5383764" y="3411587"/>
            <a:ext cx="3188708" cy="130011"/>
          </a:xfrm>
          <a:prstGeom prst="rect">
            <a:avLst/>
          </a:prstGeom>
          <a:noFill/>
          <a:ln/>
        </p:spPr>
        <p:txBody>
          <a:bodyPr wrap="none" lIns="0" tIns="0" rIns="0" bIns="0" rtlCol="0" anchor="t">
            <a:spAutoFit/>
          </a:bodyPr>
          <a:lstStyle/>
          <a:p>
            <a:pPr algn="l" indent="0" marL="0">
              <a:lnSpc>
                <a:spcPts val="1000"/>
              </a:lnSpc>
              <a:buNone/>
            </a:pPr>
            <a:r>
              <a:rPr lang="en-US" sz="674" dirty="0">
                <a:solidFill>
                  <a:srgbClr val="4B5563"/>
                </a:solidFill>
                <a:latin typeface="Inter" pitchFamily="34" charset="0"/>
                <a:ea typeface="Inter" pitchFamily="34" charset="-122"/>
                <a:cs typeface="Inter" pitchFamily="34" charset="-120"/>
              </a:rPr>
              <a:t>Đảm bảo tính nhất quán dữ liệu và dễ dàng rollback khi có lỗi xảy ra.</a:t>
            </a:r>
            <a:endParaRPr lang="en-US" sz="674" dirty="0"/>
          </a:p>
        </p:txBody>
      </p:sp>
      <p:pic>
        <p:nvPicPr>
          <p:cNvPr id="62" name="Image 15" descr="preencoded.png">    </p:cNvPr>
          <p:cNvPicPr>
            <a:picLocks noChangeAspect="1"/>
          </p:cNvPicPr>
          <p:nvPr/>
        </p:nvPicPr>
        <p:blipFill>
          <a:blip r:embed="rId16"/>
          <a:stretch>
            <a:fillRect/>
          </a:stretch>
        </p:blipFill>
        <p:spPr>
          <a:xfrm>
            <a:off x="6433393" y="3755910"/>
            <a:ext cx="803672" cy="714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8. THIẾT KẾ GIAO DIỆN (UI/UX)</a:t>
            </a:r>
            <a:endParaRPr lang="en-US" sz="1602" dirty="0"/>
          </a:p>
        </p:txBody>
      </p:sp>
      <p:pic>
        <p:nvPicPr>
          <p:cNvPr id="4" name="Image 1" descr="preencoded.png">    </p:cNvPr>
          <p:cNvPicPr>
            <a:picLocks noChangeAspect="1"/>
          </p:cNvPicPr>
          <p:nvPr/>
        </p:nvPicPr>
        <p:blipFill>
          <a:blip r:embed="rId2"/>
          <a:stretch>
            <a:fillRect/>
          </a:stretch>
        </p:blipFill>
        <p:spPr>
          <a:xfrm>
            <a:off x="571500" y="1197890"/>
            <a:ext cx="142875" cy="142875"/>
          </a:xfrm>
          <a:prstGeom prst="rect">
            <a:avLst/>
          </a:prstGeom>
        </p:spPr>
      </p:pic>
      <p:sp>
        <p:nvSpPr>
          <p:cNvPr id="5" name="Text 1"/>
          <p:cNvSpPr/>
          <p:nvPr/>
        </p:nvSpPr>
        <p:spPr>
          <a:xfrm>
            <a:off x="800100" y="1182709"/>
            <a:ext cx="123944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Ngôn ngữ thiết kế</a:t>
            </a:r>
            <a:endParaRPr lang="en-US" sz="987" dirty="0"/>
          </a:p>
        </p:txBody>
      </p:sp>
      <p:sp>
        <p:nvSpPr>
          <p:cNvPr id="6" name="Shape 2"/>
          <p:cNvSpPr/>
          <p:nvPr/>
        </p:nvSpPr>
        <p:spPr>
          <a:xfrm>
            <a:off x="571500" y="1498820"/>
            <a:ext cx="2476481" cy="2264569"/>
          </a:xfrm>
          <a:prstGeom prst="rect">
            <a:avLst/>
          </a:prstGeom>
          <a:solidFill>
            <a:srgbClr val="F5F3FF"/>
          </a:solidFill>
          <a:ln/>
        </p:spPr>
      </p:sp>
      <p:sp>
        <p:nvSpPr>
          <p:cNvPr id="7" name="Text 3"/>
          <p:cNvSpPr/>
          <p:nvPr/>
        </p:nvSpPr>
        <p:spPr>
          <a:xfrm>
            <a:off x="750094" y="1677414"/>
            <a:ext cx="2119294"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Indigo Design System</a:t>
            </a:r>
            <a:endParaRPr lang="en-US" sz="734" dirty="0"/>
          </a:p>
        </p:txBody>
      </p:sp>
      <p:sp>
        <p:nvSpPr>
          <p:cNvPr id="8" name="Text 4"/>
          <p:cNvSpPr/>
          <p:nvPr/>
        </p:nvSpPr>
        <p:spPr>
          <a:xfrm>
            <a:off x="750094" y="1866723"/>
            <a:ext cx="1932384"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Sử dụng tông màu Indigo chủ đạo, tạo</a:t>
            </a:r>
            <a:endParaRPr lang="en-US" sz="780" dirty="0"/>
          </a:p>
        </p:txBody>
      </p:sp>
      <p:sp>
        <p:nvSpPr>
          <p:cNvPr id="9" name="Text 5"/>
          <p:cNvSpPr/>
          <p:nvPr/>
        </p:nvSpPr>
        <p:spPr>
          <a:xfrm>
            <a:off x="750094" y="2016742"/>
            <a:ext cx="1834158"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cảm giác tin cậy, hiện đại và chuyên</a:t>
            </a:r>
            <a:endParaRPr lang="en-US" sz="780" dirty="0"/>
          </a:p>
        </p:txBody>
      </p:sp>
      <p:sp>
        <p:nvSpPr>
          <p:cNvPr id="10" name="Text 6"/>
          <p:cNvSpPr/>
          <p:nvPr/>
        </p:nvSpPr>
        <p:spPr>
          <a:xfrm>
            <a:off x="750094" y="2166761"/>
            <a:ext cx="376833"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nghiệp.</a:t>
            </a:r>
            <a:endParaRPr lang="en-US" sz="780" dirty="0"/>
          </a:p>
        </p:txBody>
      </p:sp>
      <p:sp>
        <p:nvSpPr>
          <p:cNvPr id="11" name="Text 7"/>
          <p:cNvSpPr/>
          <p:nvPr/>
        </p:nvSpPr>
        <p:spPr>
          <a:xfrm>
            <a:off x="750094" y="2413220"/>
            <a:ext cx="2119294"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Typography</a:t>
            </a:r>
            <a:endParaRPr lang="en-US" sz="734" dirty="0"/>
          </a:p>
        </p:txBody>
      </p:sp>
      <p:sp>
        <p:nvSpPr>
          <p:cNvPr id="12" name="Text 8"/>
          <p:cNvSpPr/>
          <p:nvPr/>
        </p:nvSpPr>
        <p:spPr>
          <a:xfrm>
            <a:off x="750094" y="2602530"/>
            <a:ext cx="1921669"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Font chữ Inter &amp; Montserrat tối ưu cho</a:t>
            </a:r>
            <a:endParaRPr lang="en-US" sz="780" dirty="0"/>
          </a:p>
        </p:txBody>
      </p:sp>
      <p:sp>
        <p:nvSpPr>
          <p:cNvPr id="13" name="Text 9"/>
          <p:cNvSpPr/>
          <p:nvPr/>
        </p:nvSpPr>
        <p:spPr>
          <a:xfrm>
            <a:off x="750094" y="2752548"/>
            <a:ext cx="2016323"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việc đọc dữ liệu số và báo cáo kỹ thuật.</a:t>
            </a:r>
            <a:endParaRPr lang="en-US" sz="780" dirty="0"/>
          </a:p>
        </p:txBody>
      </p:sp>
      <p:pic>
        <p:nvPicPr>
          <p:cNvPr id="14" name="Image 2" descr="preencoded.png">    </p:cNvPr>
          <p:cNvPicPr>
            <a:picLocks noChangeAspect="1"/>
          </p:cNvPicPr>
          <p:nvPr/>
        </p:nvPicPr>
        <p:blipFill>
          <a:blip r:embed="rId3"/>
          <a:stretch>
            <a:fillRect/>
          </a:stretch>
        </p:blipFill>
        <p:spPr>
          <a:xfrm>
            <a:off x="3333731" y="1197890"/>
            <a:ext cx="142875" cy="142875"/>
          </a:xfrm>
          <a:prstGeom prst="rect">
            <a:avLst/>
          </a:prstGeom>
        </p:spPr>
      </p:pic>
      <p:sp>
        <p:nvSpPr>
          <p:cNvPr id="15" name="Text 10"/>
          <p:cNvSpPr/>
          <p:nvPr/>
        </p:nvSpPr>
        <p:spPr>
          <a:xfrm>
            <a:off x="3562331" y="1182709"/>
            <a:ext cx="125372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Thành phần chính</a:t>
            </a:r>
            <a:endParaRPr lang="en-US" sz="987" dirty="0"/>
          </a:p>
        </p:txBody>
      </p:sp>
      <p:sp>
        <p:nvSpPr>
          <p:cNvPr id="16" name="Shape 11"/>
          <p:cNvSpPr/>
          <p:nvPr/>
        </p:nvSpPr>
        <p:spPr>
          <a:xfrm>
            <a:off x="3333731" y="1498820"/>
            <a:ext cx="2476509" cy="2264569"/>
          </a:xfrm>
          <a:prstGeom prst="rect">
            <a:avLst/>
          </a:prstGeom>
          <a:solidFill>
            <a:srgbClr val="F5F3FF"/>
          </a:solidFill>
          <a:ln/>
        </p:spPr>
      </p:sp>
      <p:pic>
        <p:nvPicPr>
          <p:cNvPr id="17" name="Image 3" descr="preencoded.png">    </p:cNvPr>
          <p:cNvPicPr>
            <a:picLocks noChangeAspect="1"/>
          </p:cNvPicPr>
          <p:nvPr/>
        </p:nvPicPr>
        <p:blipFill>
          <a:blip r:embed="rId4"/>
          <a:stretch>
            <a:fillRect/>
          </a:stretch>
        </p:blipFill>
        <p:spPr>
          <a:xfrm>
            <a:off x="3512325" y="1705989"/>
            <a:ext cx="112514" cy="100013"/>
          </a:xfrm>
          <a:prstGeom prst="rect">
            <a:avLst/>
          </a:prstGeom>
        </p:spPr>
      </p:pic>
      <p:sp>
        <p:nvSpPr>
          <p:cNvPr id="18" name="Text 12"/>
          <p:cNvSpPr/>
          <p:nvPr/>
        </p:nvSpPr>
        <p:spPr>
          <a:xfrm>
            <a:off x="3710564" y="1677414"/>
            <a:ext cx="1921083"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Dashboard Trực quan</a:t>
            </a:r>
            <a:endParaRPr lang="en-US" sz="734" dirty="0"/>
          </a:p>
        </p:txBody>
      </p:sp>
      <p:sp>
        <p:nvSpPr>
          <p:cNvPr id="19" name="Text 13"/>
          <p:cNvSpPr/>
          <p:nvPr/>
        </p:nvSpPr>
        <p:spPr>
          <a:xfrm>
            <a:off x="3710564" y="1866723"/>
            <a:ext cx="1853803"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Sử dụng ApexCharts để hiển thị tỷ lệ</a:t>
            </a:r>
            <a:endParaRPr lang="en-US" sz="780" dirty="0"/>
          </a:p>
        </p:txBody>
      </p:sp>
      <p:sp>
        <p:nvSpPr>
          <p:cNvPr id="20" name="Text 14"/>
          <p:cNvSpPr/>
          <p:nvPr/>
        </p:nvSpPr>
        <p:spPr>
          <a:xfrm>
            <a:off x="3710564" y="2016742"/>
            <a:ext cx="1092994"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lấp đầy và doanh thu.</a:t>
            </a:r>
            <a:endParaRPr lang="en-US" sz="780" dirty="0"/>
          </a:p>
        </p:txBody>
      </p:sp>
      <p:pic>
        <p:nvPicPr>
          <p:cNvPr id="21" name="Image 4" descr="preencoded.png">    </p:cNvPr>
          <p:cNvPicPr>
            <a:picLocks noChangeAspect="1"/>
          </p:cNvPicPr>
          <p:nvPr/>
        </p:nvPicPr>
        <p:blipFill>
          <a:blip r:embed="rId5"/>
          <a:stretch>
            <a:fillRect/>
          </a:stretch>
        </p:blipFill>
        <p:spPr>
          <a:xfrm>
            <a:off x="3512325" y="2291776"/>
            <a:ext cx="100013" cy="100013"/>
          </a:xfrm>
          <a:prstGeom prst="rect">
            <a:avLst/>
          </a:prstGeom>
        </p:spPr>
      </p:pic>
      <p:sp>
        <p:nvSpPr>
          <p:cNvPr id="22" name="Text 15"/>
          <p:cNvSpPr/>
          <p:nvPr/>
        </p:nvSpPr>
        <p:spPr>
          <a:xfrm>
            <a:off x="3698063" y="2263201"/>
            <a:ext cx="1933584"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Data Tables</a:t>
            </a:r>
            <a:endParaRPr lang="en-US" sz="734" dirty="0"/>
          </a:p>
        </p:txBody>
      </p:sp>
      <p:sp>
        <p:nvSpPr>
          <p:cNvPr id="23" name="Text 16"/>
          <p:cNvSpPr/>
          <p:nvPr/>
        </p:nvSpPr>
        <p:spPr>
          <a:xfrm>
            <a:off x="3698063" y="2452511"/>
            <a:ext cx="1902023"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Bảng dữ liệu hỗ trợ phân trang, lọc và</a:t>
            </a:r>
            <a:endParaRPr lang="en-US" sz="780" dirty="0"/>
          </a:p>
        </p:txBody>
      </p:sp>
      <p:sp>
        <p:nvSpPr>
          <p:cNvPr id="24" name="Text 17"/>
          <p:cNvSpPr/>
          <p:nvPr/>
        </p:nvSpPr>
        <p:spPr>
          <a:xfrm>
            <a:off x="3698063" y="2602530"/>
            <a:ext cx="1148358"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tìm kiếm nhanh chóng.</a:t>
            </a:r>
            <a:endParaRPr lang="en-US" sz="780" dirty="0"/>
          </a:p>
        </p:txBody>
      </p:sp>
      <p:pic>
        <p:nvPicPr>
          <p:cNvPr id="25" name="Image 5" descr="preencoded.png">    </p:cNvPr>
          <p:cNvPicPr>
            <a:picLocks noChangeAspect="1"/>
          </p:cNvPicPr>
          <p:nvPr/>
        </p:nvPicPr>
        <p:blipFill>
          <a:blip r:embed="rId6"/>
          <a:stretch>
            <a:fillRect/>
          </a:stretch>
        </p:blipFill>
        <p:spPr>
          <a:xfrm>
            <a:off x="3512325" y="2877564"/>
            <a:ext cx="100013" cy="100013"/>
          </a:xfrm>
          <a:prstGeom prst="rect">
            <a:avLst/>
          </a:prstGeom>
        </p:spPr>
      </p:pic>
      <p:sp>
        <p:nvSpPr>
          <p:cNvPr id="26" name="Text 18"/>
          <p:cNvSpPr/>
          <p:nvPr/>
        </p:nvSpPr>
        <p:spPr>
          <a:xfrm>
            <a:off x="3698063" y="2848989"/>
            <a:ext cx="1933584"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Dark Mode Support</a:t>
            </a:r>
            <a:endParaRPr lang="en-US" sz="734" dirty="0"/>
          </a:p>
        </p:txBody>
      </p:sp>
      <p:sp>
        <p:nvSpPr>
          <p:cNvPr id="27" name="Text 19"/>
          <p:cNvSpPr/>
          <p:nvPr/>
        </p:nvSpPr>
        <p:spPr>
          <a:xfrm>
            <a:off x="3698063" y="3038298"/>
            <a:ext cx="1743075"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Tối ưu hóa trải nghiệm người dùng</a:t>
            </a:r>
            <a:endParaRPr lang="en-US" sz="780" dirty="0"/>
          </a:p>
        </p:txBody>
      </p:sp>
      <p:sp>
        <p:nvSpPr>
          <p:cNvPr id="28" name="Text 20"/>
          <p:cNvSpPr/>
          <p:nvPr/>
        </p:nvSpPr>
        <p:spPr>
          <a:xfrm>
            <a:off x="3698063" y="3188317"/>
            <a:ext cx="1737717"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trong các điều kiện ánh sáng khác</a:t>
            </a:r>
            <a:endParaRPr lang="en-US" sz="780" dirty="0"/>
          </a:p>
        </p:txBody>
      </p:sp>
      <p:sp>
        <p:nvSpPr>
          <p:cNvPr id="29" name="Text 21"/>
          <p:cNvSpPr/>
          <p:nvPr/>
        </p:nvSpPr>
        <p:spPr>
          <a:xfrm>
            <a:off x="3698063" y="3338336"/>
            <a:ext cx="278606"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nhau.</a:t>
            </a:r>
            <a:endParaRPr lang="en-US" sz="780" dirty="0"/>
          </a:p>
        </p:txBody>
      </p:sp>
      <p:pic>
        <p:nvPicPr>
          <p:cNvPr id="30" name="Image 6" descr="preencoded.png">    </p:cNvPr>
          <p:cNvPicPr>
            <a:picLocks noChangeAspect="1"/>
          </p:cNvPicPr>
          <p:nvPr/>
        </p:nvPicPr>
        <p:blipFill>
          <a:blip r:embed="rId7"/>
          <a:stretch>
            <a:fillRect/>
          </a:stretch>
        </p:blipFill>
        <p:spPr>
          <a:xfrm>
            <a:off x="6095991" y="1197890"/>
            <a:ext cx="160734" cy="142875"/>
          </a:xfrm>
          <a:prstGeom prst="rect">
            <a:avLst/>
          </a:prstGeom>
        </p:spPr>
      </p:pic>
      <p:sp>
        <p:nvSpPr>
          <p:cNvPr id="31" name="Text 22"/>
          <p:cNvSpPr/>
          <p:nvPr/>
        </p:nvSpPr>
        <p:spPr>
          <a:xfrm>
            <a:off x="6342450" y="1182709"/>
            <a:ext cx="1435894"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Cổng cư dân (Portal)</a:t>
            </a:r>
            <a:endParaRPr lang="en-US" sz="987" dirty="0"/>
          </a:p>
        </p:txBody>
      </p:sp>
      <p:sp>
        <p:nvSpPr>
          <p:cNvPr id="32" name="Shape 23"/>
          <p:cNvSpPr/>
          <p:nvPr/>
        </p:nvSpPr>
        <p:spPr>
          <a:xfrm>
            <a:off x="6095991" y="1498820"/>
            <a:ext cx="2476481" cy="2264569"/>
          </a:xfrm>
          <a:prstGeom prst="rect">
            <a:avLst/>
          </a:prstGeom>
          <a:solidFill>
            <a:srgbClr val="F5F3FF"/>
          </a:solidFill>
          <a:ln/>
        </p:spPr>
      </p:sp>
      <p:pic>
        <p:nvPicPr>
          <p:cNvPr id="33" name="Image 7" descr="preencoded.png">    </p:cNvPr>
          <p:cNvPicPr>
            <a:picLocks noChangeAspect="1"/>
          </p:cNvPicPr>
          <p:nvPr/>
        </p:nvPicPr>
        <p:blipFill>
          <a:blip r:embed="rId8"/>
          <a:stretch>
            <a:fillRect/>
          </a:stretch>
        </p:blipFill>
        <p:spPr>
          <a:xfrm>
            <a:off x="6274584" y="1705989"/>
            <a:ext cx="125016" cy="100013"/>
          </a:xfrm>
          <a:prstGeom prst="rect">
            <a:avLst/>
          </a:prstGeom>
        </p:spPr>
      </p:pic>
      <p:sp>
        <p:nvSpPr>
          <p:cNvPr id="34" name="Text 24"/>
          <p:cNvSpPr/>
          <p:nvPr/>
        </p:nvSpPr>
        <p:spPr>
          <a:xfrm>
            <a:off x="6485325" y="1677414"/>
            <a:ext cx="1908553"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No-Login Access</a:t>
            </a:r>
            <a:endParaRPr lang="en-US" sz="734" dirty="0"/>
          </a:p>
        </p:txBody>
      </p:sp>
      <p:sp>
        <p:nvSpPr>
          <p:cNvPr id="35" name="Text 25"/>
          <p:cNvSpPr/>
          <p:nvPr/>
        </p:nvSpPr>
        <p:spPr>
          <a:xfrm>
            <a:off x="6485325" y="1866723"/>
            <a:ext cx="1714500"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Cư dân truy cập thông tin qua link</a:t>
            </a:r>
            <a:endParaRPr lang="en-US" sz="780" dirty="0"/>
          </a:p>
        </p:txBody>
      </p:sp>
      <p:sp>
        <p:nvSpPr>
          <p:cNvPr id="36" name="Text 26"/>
          <p:cNvSpPr/>
          <p:nvPr/>
        </p:nvSpPr>
        <p:spPr>
          <a:xfrm>
            <a:off x="6485325" y="2016742"/>
            <a:ext cx="1585913"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token an toàn mà không cần tài</a:t>
            </a:r>
            <a:endParaRPr lang="en-US" sz="780" dirty="0"/>
          </a:p>
        </p:txBody>
      </p:sp>
      <p:sp>
        <p:nvSpPr>
          <p:cNvPr id="37" name="Text 27"/>
          <p:cNvSpPr/>
          <p:nvPr/>
        </p:nvSpPr>
        <p:spPr>
          <a:xfrm>
            <a:off x="6485325" y="2166761"/>
            <a:ext cx="339328"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khoản.</a:t>
            </a:r>
            <a:endParaRPr lang="en-US" sz="780" dirty="0"/>
          </a:p>
        </p:txBody>
      </p:sp>
      <p:pic>
        <p:nvPicPr>
          <p:cNvPr id="38" name="Image 8" descr="preencoded.png">    </p:cNvPr>
          <p:cNvPicPr>
            <a:picLocks noChangeAspect="1"/>
          </p:cNvPicPr>
          <p:nvPr/>
        </p:nvPicPr>
        <p:blipFill>
          <a:blip r:embed="rId9"/>
          <a:stretch>
            <a:fillRect/>
          </a:stretch>
        </p:blipFill>
        <p:spPr>
          <a:xfrm>
            <a:off x="6274584" y="2441795"/>
            <a:ext cx="75009" cy="100013"/>
          </a:xfrm>
          <a:prstGeom prst="rect">
            <a:avLst/>
          </a:prstGeom>
        </p:spPr>
      </p:pic>
      <p:sp>
        <p:nvSpPr>
          <p:cNvPr id="39" name="Text 28"/>
          <p:cNvSpPr/>
          <p:nvPr/>
        </p:nvSpPr>
        <p:spPr>
          <a:xfrm>
            <a:off x="6435319" y="2413220"/>
            <a:ext cx="1958560"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Mobile First</a:t>
            </a:r>
            <a:endParaRPr lang="en-US" sz="734" dirty="0"/>
          </a:p>
        </p:txBody>
      </p:sp>
      <p:sp>
        <p:nvSpPr>
          <p:cNvPr id="40" name="Text 29"/>
          <p:cNvSpPr/>
          <p:nvPr/>
        </p:nvSpPr>
        <p:spPr>
          <a:xfrm>
            <a:off x="6435319" y="2602530"/>
            <a:ext cx="1852017"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Giao diện Portal được tối ưu đặc biệt</a:t>
            </a:r>
            <a:endParaRPr lang="en-US" sz="780" dirty="0"/>
          </a:p>
        </p:txBody>
      </p:sp>
      <p:sp>
        <p:nvSpPr>
          <p:cNvPr id="41" name="Text 30"/>
          <p:cNvSpPr/>
          <p:nvPr/>
        </p:nvSpPr>
        <p:spPr>
          <a:xfrm>
            <a:off x="6435319" y="2752548"/>
            <a:ext cx="1007269"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cho thiết bị di động.</a:t>
            </a:r>
            <a:endParaRPr lang="en-US" sz="780" dirty="0"/>
          </a:p>
        </p:txBody>
      </p:sp>
      <p:pic>
        <p:nvPicPr>
          <p:cNvPr id="42" name="Image 9" descr="preencoded.png">    </p:cNvPr>
          <p:cNvPicPr>
            <a:picLocks noChangeAspect="1"/>
          </p:cNvPicPr>
          <p:nvPr/>
        </p:nvPicPr>
        <p:blipFill>
          <a:blip r:embed="rId10"/>
          <a:stretch>
            <a:fillRect/>
          </a:stretch>
        </p:blipFill>
        <p:spPr>
          <a:xfrm>
            <a:off x="6274584" y="3027583"/>
            <a:ext cx="75009" cy="100013"/>
          </a:xfrm>
          <a:prstGeom prst="rect">
            <a:avLst/>
          </a:prstGeom>
        </p:spPr>
      </p:pic>
      <p:sp>
        <p:nvSpPr>
          <p:cNvPr id="43" name="Text 31"/>
          <p:cNvSpPr/>
          <p:nvPr/>
        </p:nvSpPr>
        <p:spPr>
          <a:xfrm>
            <a:off x="6435319" y="2999008"/>
            <a:ext cx="1958560" cy="150019"/>
          </a:xfrm>
          <a:prstGeom prst="rect">
            <a:avLst/>
          </a:prstGeom>
          <a:noFill/>
          <a:ln/>
        </p:spPr>
        <p:txBody>
          <a:bodyPr wrap="none" lIns="0" tIns="0" rIns="0" bIns="0" rtlCol="0" anchor="t">
            <a:spAutoFit/>
          </a:bodyPr>
          <a:lstStyle/>
          <a:p>
            <a:pPr algn="l" indent="0" marL="0">
              <a:lnSpc>
                <a:spcPts val="1200"/>
              </a:lnSpc>
              <a:buNone/>
            </a:pPr>
            <a:r>
              <a:rPr lang="en-US" sz="734" b="1" dirty="0">
                <a:solidFill>
                  <a:srgbClr val="1E1B4B"/>
                </a:solidFill>
                <a:latin typeface="Inter" pitchFamily="34" charset="0"/>
                <a:ea typeface="Inter" pitchFamily="34" charset="-122"/>
                <a:cs typeface="Inter" pitchFamily="34" charset="-120"/>
              </a:rPr>
              <a:t>Self-Service</a:t>
            </a:r>
            <a:endParaRPr lang="en-US" sz="734" dirty="0"/>
          </a:p>
        </p:txBody>
      </p:sp>
      <p:sp>
        <p:nvSpPr>
          <p:cNvPr id="44" name="Text 32"/>
          <p:cNvSpPr/>
          <p:nvPr/>
        </p:nvSpPr>
        <p:spPr>
          <a:xfrm>
            <a:off x="6435319" y="3188317"/>
            <a:ext cx="1921669"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Tự xem hóa đơn, hợp đồng và gửi yêu</a:t>
            </a:r>
            <a:endParaRPr lang="en-US" sz="780" dirty="0"/>
          </a:p>
        </p:txBody>
      </p:sp>
      <p:sp>
        <p:nvSpPr>
          <p:cNvPr id="45" name="Text 33"/>
          <p:cNvSpPr/>
          <p:nvPr/>
        </p:nvSpPr>
        <p:spPr>
          <a:xfrm>
            <a:off x="6435319" y="3338336"/>
            <a:ext cx="1580555"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1E1B4B"/>
                </a:solidFill>
                <a:latin typeface="Inter" pitchFamily="34" charset="0"/>
                <a:ea typeface="Inter" pitchFamily="34" charset="-122"/>
                <a:cs typeface="Inter" pitchFamily="34" charset="-120"/>
              </a:rPr>
              <a:t>cầu hỗ trợ ngay trên điện thoại.</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9. XÂY DỰNG PHẦN MỀM (IMPLEMENTATION)</a:t>
            </a:r>
            <a:endParaRPr lang="en-US" sz="1602" dirty="0"/>
          </a:p>
        </p:txBody>
      </p:sp>
      <p:sp>
        <p:nvSpPr>
          <p:cNvPr id="4" name="Shape 1"/>
          <p:cNvSpPr/>
          <p:nvPr/>
        </p:nvSpPr>
        <p:spPr>
          <a:xfrm>
            <a:off x="571500" y="1325584"/>
            <a:ext cx="2524116" cy="3429000"/>
          </a:xfrm>
          <a:prstGeom prst="rect">
            <a:avLst/>
          </a:prstGeom>
          <a:solidFill>
            <a:srgbClr val="F5F3FF"/>
          </a:solidFill>
          <a:ln/>
        </p:spPr>
      </p:sp>
      <p:pic>
        <p:nvPicPr>
          <p:cNvPr id="5" name="Image 1" descr="preencoded.png">    </p:cNvPr>
          <p:cNvPicPr>
            <a:picLocks noChangeAspect="1"/>
          </p:cNvPicPr>
          <p:nvPr/>
        </p:nvPicPr>
        <p:blipFill>
          <a:blip r:embed="rId2"/>
          <a:stretch>
            <a:fillRect/>
          </a:stretch>
        </p:blipFill>
        <p:spPr>
          <a:xfrm>
            <a:off x="714375" y="1555077"/>
            <a:ext cx="178594" cy="142875"/>
          </a:xfrm>
          <a:prstGeom prst="rect">
            <a:avLst/>
          </a:prstGeom>
        </p:spPr>
      </p:pic>
      <p:sp>
        <p:nvSpPr>
          <p:cNvPr id="6" name="Text 2"/>
          <p:cNvSpPr/>
          <p:nvPr/>
        </p:nvSpPr>
        <p:spPr>
          <a:xfrm>
            <a:off x="978694" y="1539897"/>
            <a:ext cx="1144786"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Quy tắc lập trình</a:t>
            </a:r>
            <a:endParaRPr lang="en-US" sz="987" dirty="0"/>
          </a:p>
        </p:txBody>
      </p:sp>
      <p:sp>
        <p:nvSpPr>
          <p:cNvPr id="7" name="Text 3"/>
          <p:cNvSpPr/>
          <p:nvPr/>
        </p:nvSpPr>
        <p:spPr>
          <a:xfrm>
            <a:off x="714375" y="1977451"/>
            <a:ext cx="2238366"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Backend (Java)</a:t>
            </a:r>
            <a:endParaRPr lang="en-US" sz="734" dirty="0"/>
          </a:p>
        </p:txBody>
      </p:sp>
      <p:sp>
        <p:nvSpPr>
          <p:cNvPr id="8" name="Text 4"/>
          <p:cNvSpPr/>
          <p:nvPr/>
        </p:nvSpPr>
        <p:spPr>
          <a:xfrm>
            <a:off x="714375" y="2156045"/>
            <a:ext cx="2227064"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Tuân thủ Java Convention, sử dụng Lombok để</a:t>
            </a:r>
            <a:endParaRPr lang="en-US" sz="727" dirty="0"/>
          </a:p>
        </p:txBody>
      </p:sp>
      <p:sp>
        <p:nvSpPr>
          <p:cNvPr id="9" name="Text 5"/>
          <p:cNvSpPr/>
          <p:nvPr/>
        </p:nvSpPr>
        <p:spPr>
          <a:xfrm>
            <a:off x="714375" y="2306064"/>
            <a:ext cx="1909167"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giảm mã thừa, kiến trúc Layered rõ ràng.</a:t>
            </a:r>
            <a:endParaRPr lang="en-US" sz="727" dirty="0"/>
          </a:p>
        </p:txBody>
      </p:sp>
      <p:sp>
        <p:nvSpPr>
          <p:cNvPr id="10" name="Text 6"/>
          <p:cNvSpPr/>
          <p:nvPr/>
        </p:nvSpPr>
        <p:spPr>
          <a:xfrm>
            <a:off x="714375" y="2584670"/>
            <a:ext cx="2238366"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Frontend (React)</a:t>
            </a:r>
            <a:endParaRPr lang="en-US" sz="734" dirty="0"/>
          </a:p>
        </p:txBody>
      </p:sp>
      <p:sp>
        <p:nvSpPr>
          <p:cNvPr id="11" name="Text 7"/>
          <p:cNvSpPr/>
          <p:nvPr/>
        </p:nvSpPr>
        <p:spPr>
          <a:xfrm>
            <a:off x="714375" y="2763264"/>
            <a:ext cx="1905595"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Sử dụng Functional Components, Hooks</a:t>
            </a:r>
            <a:endParaRPr lang="en-US" sz="727" dirty="0"/>
          </a:p>
        </p:txBody>
      </p:sp>
      <p:sp>
        <p:nvSpPr>
          <p:cNvPr id="12" name="Text 8"/>
          <p:cNvSpPr/>
          <p:nvPr/>
        </p:nvSpPr>
        <p:spPr>
          <a:xfrm>
            <a:off x="714375" y="2913283"/>
            <a:ext cx="2155627"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(useState, useEffect), ES6+ và Axios cho API.</a:t>
            </a:r>
            <a:endParaRPr lang="en-US" sz="727" dirty="0"/>
          </a:p>
        </p:txBody>
      </p:sp>
      <p:sp>
        <p:nvSpPr>
          <p:cNvPr id="13" name="Text 9"/>
          <p:cNvSpPr/>
          <p:nvPr/>
        </p:nvSpPr>
        <p:spPr>
          <a:xfrm>
            <a:off x="714375" y="3191889"/>
            <a:ext cx="2238366"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API Standard</a:t>
            </a:r>
            <a:endParaRPr lang="en-US" sz="734" dirty="0"/>
          </a:p>
        </p:txBody>
      </p:sp>
      <p:sp>
        <p:nvSpPr>
          <p:cNvPr id="14" name="Text 10"/>
          <p:cNvSpPr/>
          <p:nvPr/>
        </p:nvSpPr>
        <p:spPr>
          <a:xfrm>
            <a:off x="714375" y="3370483"/>
            <a:ext cx="2057400"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Chuẩn RESTful, định dạng JSON: {success,</a:t>
            </a:r>
            <a:endParaRPr lang="en-US" sz="727" dirty="0"/>
          </a:p>
        </p:txBody>
      </p:sp>
      <p:sp>
        <p:nvSpPr>
          <p:cNvPr id="15" name="Text 11"/>
          <p:cNvSpPr/>
          <p:nvPr/>
        </p:nvSpPr>
        <p:spPr>
          <a:xfrm>
            <a:off x="714375" y="3520501"/>
            <a:ext cx="1989534"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message, data}. Xử lý lỗi tập trung (Global</a:t>
            </a:r>
            <a:endParaRPr lang="en-US" sz="727" dirty="0"/>
          </a:p>
        </p:txBody>
      </p:sp>
      <p:sp>
        <p:nvSpPr>
          <p:cNvPr id="16" name="Text 12"/>
          <p:cNvSpPr/>
          <p:nvPr/>
        </p:nvSpPr>
        <p:spPr>
          <a:xfrm>
            <a:off x="714375" y="3670520"/>
            <a:ext cx="532209"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Exception).</a:t>
            </a:r>
            <a:endParaRPr lang="en-US" sz="727" dirty="0"/>
          </a:p>
        </p:txBody>
      </p:sp>
      <p:sp>
        <p:nvSpPr>
          <p:cNvPr id="17" name="Shape 13"/>
          <p:cNvSpPr/>
          <p:nvPr/>
        </p:nvSpPr>
        <p:spPr>
          <a:xfrm>
            <a:off x="3309928" y="1325584"/>
            <a:ext cx="2524116" cy="3429000"/>
          </a:xfrm>
          <a:prstGeom prst="rect">
            <a:avLst/>
          </a:prstGeom>
          <a:solidFill>
            <a:srgbClr val="EEF2FF"/>
          </a:solidFill>
          <a:ln/>
        </p:spPr>
      </p:sp>
      <p:sp>
        <p:nvSpPr>
          <p:cNvPr id="18" name="Text 14"/>
          <p:cNvSpPr/>
          <p:nvPr/>
        </p:nvSpPr>
        <p:spPr>
          <a:xfrm>
            <a:off x="3538528" y="1539897"/>
            <a:ext cx="1418034"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Luồng xử lý Request</a:t>
            </a:r>
            <a:endParaRPr lang="en-US" sz="987" dirty="0"/>
          </a:p>
        </p:txBody>
      </p:sp>
      <p:sp>
        <p:nvSpPr>
          <p:cNvPr id="19" name="Shape 15"/>
          <p:cNvSpPr/>
          <p:nvPr/>
        </p:nvSpPr>
        <p:spPr>
          <a:xfrm>
            <a:off x="3452803" y="1977451"/>
            <a:ext cx="2238366" cy="264319"/>
          </a:xfrm>
          <a:prstGeom prst="rect">
            <a:avLst/>
          </a:prstGeom>
          <a:solidFill>
            <a:srgbClr val="1E1B4B"/>
          </a:solidFill>
          <a:ln/>
        </p:spPr>
      </p:sp>
      <p:sp>
        <p:nvSpPr>
          <p:cNvPr id="20" name="Text 16"/>
          <p:cNvSpPr/>
          <p:nvPr/>
        </p:nvSpPr>
        <p:spPr>
          <a:xfrm>
            <a:off x="3595678" y="2048889"/>
            <a:ext cx="1039416"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1. Frontend (React UI)</a:t>
            </a:r>
            <a:endParaRPr lang="en-US" sz="683" dirty="0"/>
          </a:p>
        </p:txBody>
      </p:sp>
      <p:sp>
        <p:nvSpPr>
          <p:cNvPr id="21" name="Shape 17"/>
          <p:cNvSpPr/>
          <p:nvPr/>
        </p:nvSpPr>
        <p:spPr>
          <a:xfrm>
            <a:off x="3452803" y="2348926"/>
            <a:ext cx="2238366" cy="264319"/>
          </a:xfrm>
          <a:prstGeom prst="rect">
            <a:avLst/>
          </a:prstGeom>
          <a:solidFill>
            <a:srgbClr val="1E1B4B"/>
          </a:solidFill>
          <a:ln/>
        </p:spPr>
      </p:sp>
      <p:pic>
        <p:nvPicPr>
          <p:cNvPr id="22" name="Image 2" descr="preencoded.png">    </p:cNvPr>
          <p:cNvPicPr>
            <a:picLocks noChangeAspect="1"/>
          </p:cNvPicPr>
          <p:nvPr/>
        </p:nvPicPr>
        <p:blipFill>
          <a:blip r:embed="rId3"/>
          <a:stretch>
            <a:fillRect/>
          </a:stretch>
        </p:blipFill>
        <p:spPr>
          <a:xfrm>
            <a:off x="3524241" y="2431080"/>
            <a:ext cx="125016" cy="100013"/>
          </a:xfrm>
          <a:prstGeom prst="rect">
            <a:avLst/>
          </a:prstGeom>
        </p:spPr>
      </p:pic>
      <p:sp>
        <p:nvSpPr>
          <p:cNvPr id="23" name="Text 18"/>
          <p:cNvSpPr/>
          <p:nvPr/>
        </p:nvSpPr>
        <p:spPr>
          <a:xfrm>
            <a:off x="3720694" y="2420364"/>
            <a:ext cx="1151930"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2. Controller (REST API)</a:t>
            </a:r>
            <a:endParaRPr lang="en-US" sz="683" dirty="0"/>
          </a:p>
        </p:txBody>
      </p:sp>
      <p:sp>
        <p:nvSpPr>
          <p:cNvPr id="24" name="Shape 19"/>
          <p:cNvSpPr/>
          <p:nvPr/>
        </p:nvSpPr>
        <p:spPr>
          <a:xfrm>
            <a:off x="3452803" y="2720401"/>
            <a:ext cx="2238366" cy="264319"/>
          </a:xfrm>
          <a:prstGeom prst="rect">
            <a:avLst/>
          </a:prstGeom>
          <a:solidFill>
            <a:srgbClr val="1E1B4B"/>
          </a:solidFill>
          <a:ln/>
        </p:spPr>
      </p:sp>
      <p:pic>
        <p:nvPicPr>
          <p:cNvPr id="25" name="Image 3" descr="preencoded.png">    </p:cNvPr>
          <p:cNvPicPr>
            <a:picLocks noChangeAspect="1"/>
          </p:cNvPicPr>
          <p:nvPr/>
        </p:nvPicPr>
        <p:blipFill>
          <a:blip r:embed="rId4"/>
          <a:stretch>
            <a:fillRect/>
          </a:stretch>
        </p:blipFill>
        <p:spPr>
          <a:xfrm>
            <a:off x="3524241" y="2802555"/>
            <a:ext cx="125016" cy="100013"/>
          </a:xfrm>
          <a:prstGeom prst="rect">
            <a:avLst/>
          </a:prstGeom>
        </p:spPr>
      </p:pic>
      <p:sp>
        <p:nvSpPr>
          <p:cNvPr id="26" name="Text 20"/>
          <p:cNvSpPr/>
          <p:nvPr/>
        </p:nvSpPr>
        <p:spPr>
          <a:xfrm>
            <a:off x="3720694" y="2791839"/>
            <a:ext cx="1318022"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3. Service (Business Logic)</a:t>
            </a:r>
            <a:endParaRPr lang="en-US" sz="683" dirty="0"/>
          </a:p>
        </p:txBody>
      </p:sp>
      <p:sp>
        <p:nvSpPr>
          <p:cNvPr id="27" name="Shape 21"/>
          <p:cNvSpPr/>
          <p:nvPr/>
        </p:nvSpPr>
        <p:spPr>
          <a:xfrm>
            <a:off x="3452803" y="3091876"/>
            <a:ext cx="2238366" cy="264319"/>
          </a:xfrm>
          <a:prstGeom prst="rect">
            <a:avLst/>
          </a:prstGeom>
          <a:solidFill>
            <a:srgbClr val="1E1B4B"/>
          </a:solidFill>
          <a:ln/>
        </p:spPr>
      </p:sp>
      <p:pic>
        <p:nvPicPr>
          <p:cNvPr id="28" name="Image 4" descr="preencoded.png">    </p:cNvPr>
          <p:cNvPicPr>
            <a:picLocks noChangeAspect="1"/>
          </p:cNvPicPr>
          <p:nvPr/>
        </p:nvPicPr>
        <p:blipFill>
          <a:blip r:embed="rId5"/>
          <a:stretch>
            <a:fillRect/>
          </a:stretch>
        </p:blipFill>
        <p:spPr>
          <a:xfrm>
            <a:off x="3524241" y="3174030"/>
            <a:ext cx="87511" cy="100013"/>
          </a:xfrm>
          <a:prstGeom prst="rect">
            <a:avLst/>
          </a:prstGeom>
        </p:spPr>
      </p:pic>
      <p:sp>
        <p:nvSpPr>
          <p:cNvPr id="29" name="Text 22"/>
          <p:cNvSpPr/>
          <p:nvPr/>
        </p:nvSpPr>
        <p:spPr>
          <a:xfrm>
            <a:off x="3683189" y="3163314"/>
            <a:ext cx="1112639"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latin typeface="Inter" pitchFamily="34" charset="0"/>
                <a:ea typeface="Inter" pitchFamily="34" charset="-122"/>
                <a:cs typeface="Inter" pitchFamily="34" charset="-120"/>
              </a:rPr>
              <a:t>4. Repository (JPA/DB)</a:t>
            </a:r>
            <a:endParaRPr lang="en-US" sz="683" dirty="0"/>
          </a:p>
        </p:txBody>
      </p:sp>
      <p:sp>
        <p:nvSpPr>
          <p:cNvPr id="30" name="Text 23"/>
          <p:cNvSpPr/>
          <p:nvPr/>
        </p:nvSpPr>
        <p:spPr>
          <a:xfrm>
            <a:off x="3452803" y="3463351"/>
            <a:ext cx="2238366" cy="408980"/>
          </a:xfrm>
          <a:prstGeom prst="rect">
            <a:avLst/>
          </a:prstGeom>
          <a:noFill/>
          <a:ln/>
        </p:spPr>
        <p:txBody>
          <a:bodyPr wrap="square" lIns="0" tIns="85090" rIns="0" bIns="0" rtlCol="0" anchor="t">
            <a:spAutoFit/>
          </a:bodyPr>
          <a:lstStyle/>
          <a:p>
            <a:pPr algn="l" indent="0" marL="0">
              <a:lnSpc>
                <a:spcPts val="900"/>
              </a:lnSpc>
              <a:buNone/>
            </a:pPr>
            <a:r>
              <a:rPr lang="en-US" sz="674" i="1" dirty="0">
                <a:solidFill>
                  <a:srgbClr val="4B5563"/>
                </a:solidFill>
                <a:latin typeface="Inter" pitchFamily="34" charset="0"/>
                <a:ea typeface="Inter" pitchFamily="34" charset="-122"/>
                <a:cs typeface="Inter" pitchFamily="34" charset="-120"/>
              </a:rPr>
              <a:t>Dữ liệu được chuyển đổi qua các lớp bằng DTO (Data Transfer Object) để đảm bảo tính đóng gói và bảo mật.</a:t>
            </a:r>
            <a:endParaRPr lang="en-US" sz="674" dirty="0"/>
          </a:p>
        </p:txBody>
      </p:sp>
      <p:sp>
        <p:nvSpPr>
          <p:cNvPr id="31" name="Shape 24"/>
          <p:cNvSpPr/>
          <p:nvPr/>
        </p:nvSpPr>
        <p:spPr>
          <a:xfrm>
            <a:off x="6048356" y="1325584"/>
            <a:ext cx="2524144" cy="3429000"/>
          </a:xfrm>
          <a:prstGeom prst="rect">
            <a:avLst/>
          </a:prstGeom>
          <a:solidFill>
            <a:srgbClr val="F5F3FF"/>
          </a:solidFill>
          <a:ln/>
        </p:spPr>
      </p:sp>
      <p:pic>
        <p:nvPicPr>
          <p:cNvPr id="32" name="Image 5" descr="preencoded.png">    </p:cNvPr>
          <p:cNvPicPr>
            <a:picLocks noChangeAspect="1"/>
          </p:cNvPicPr>
          <p:nvPr/>
        </p:nvPicPr>
        <p:blipFill>
          <a:blip r:embed="rId6"/>
          <a:stretch>
            <a:fillRect/>
          </a:stretch>
        </p:blipFill>
        <p:spPr>
          <a:xfrm>
            <a:off x="6191231" y="1555077"/>
            <a:ext cx="142875" cy="142875"/>
          </a:xfrm>
          <a:prstGeom prst="rect">
            <a:avLst/>
          </a:prstGeom>
        </p:spPr>
      </p:pic>
      <p:sp>
        <p:nvSpPr>
          <p:cNvPr id="33" name="Text 25"/>
          <p:cNvSpPr/>
          <p:nvPr/>
        </p:nvSpPr>
        <p:spPr>
          <a:xfrm>
            <a:off x="6419831" y="1539897"/>
            <a:ext cx="1316236"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E1B4B"/>
                </a:solidFill>
                <a:latin typeface="Inter" pitchFamily="34" charset="0"/>
                <a:ea typeface="Inter" pitchFamily="34" charset="-122"/>
                <a:cs typeface="Inter" pitchFamily="34" charset="-120"/>
              </a:rPr>
              <a:t>Dữ liệu mẫu (Seed)</a:t>
            </a:r>
            <a:endParaRPr lang="en-US" sz="987" dirty="0"/>
          </a:p>
        </p:txBody>
      </p:sp>
      <p:sp>
        <p:nvSpPr>
          <p:cNvPr id="34" name="Text 26"/>
          <p:cNvSpPr/>
          <p:nvPr/>
        </p:nvSpPr>
        <p:spPr>
          <a:xfrm>
            <a:off x="6191231" y="1977451"/>
            <a:ext cx="2238394"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Tự động khởi tạo</a:t>
            </a:r>
            <a:endParaRPr lang="en-US" sz="734" dirty="0"/>
          </a:p>
        </p:txBody>
      </p:sp>
      <p:sp>
        <p:nvSpPr>
          <p:cNvPr id="35" name="Text 27"/>
          <p:cNvSpPr/>
          <p:nvPr/>
        </p:nvSpPr>
        <p:spPr>
          <a:xfrm>
            <a:off x="6191231" y="2156045"/>
            <a:ext cx="2159198"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Sử dụng DataInitializer để tạo dữ liệu ngay khi</a:t>
            </a:r>
            <a:endParaRPr lang="en-US" sz="727" dirty="0"/>
          </a:p>
        </p:txBody>
      </p:sp>
      <p:sp>
        <p:nvSpPr>
          <p:cNvPr id="36" name="Text 28"/>
          <p:cNvSpPr/>
          <p:nvPr/>
        </p:nvSpPr>
        <p:spPr>
          <a:xfrm>
            <a:off x="6191231" y="2306064"/>
            <a:ext cx="1384102"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hệ thống khởi động (Startup).</a:t>
            </a:r>
            <a:endParaRPr lang="en-US" sz="727" dirty="0"/>
          </a:p>
        </p:txBody>
      </p:sp>
      <p:sp>
        <p:nvSpPr>
          <p:cNvPr id="37" name="Text 29"/>
          <p:cNvSpPr/>
          <p:nvPr/>
        </p:nvSpPr>
        <p:spPr>
          <a:xfrm>
            <a:off x="6191231" y="2584670"/>
            <a:ext cx="2238394"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Thành phần mẫu</a:t>
            </a:r>
            <a:endParaRPr lang="en-US" sz="734" dirty="0"/>
          </a:p>
        </p:txBody>
      </p:sp>
      <p:sp>
        <p:nvSpPr>
          <p:cNvPr id="38" name="Text 30"/>
          <p:cNvSpPr/>
          <p:nvPr/>
        </p:nvSpPr>
        <p:spPr>
          <a:xfrm>
            <a:off x="6191231" y="2763264"/>
            <a:ext cx="766167"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1 Tenant, 4 User</a:t>
            </a:r>
            <a:endParaRPr lang="en-US" sz="727" dirty="0"/>
          </a:p>
        </p:txBody>
      </p:sp>
      <p:sp>
        <p:nvSpPr>
          <p:cNvPr id="39" name="Text 31"/>
          <p:cNvSpPr/>
          <p:nvPr/>
        </p:nvSpPr>
        <p:spPr>
          <a:xfrm>
            <a:off x="6191231" y="2913283"/>
            <a:ext cx="2202061"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(Admin/Manager/Guard/Tenant), 20 Phòng trọ,</a:t>
            </a:r>
            <a:endParaRPr lang="en-US" sz="727" dirty="0"/>
          </a:p>
        </p:txBody>
      </p:sp>
      <p:sp>
        <p:nvSpPr>
          <p:cNvPr id="40" name="Text 32"/>
          <p:cNvSpPr/>
          <p:nvPr/>
        </p:nvSpPr>
        <p:spPr>
          <a:xfrm>
            <a:off x="6191231" y="3063301"/>
            <a:ext cx="1144786"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12 Hợp đồng &amp; Hóa đơn.</a:t>
            </a:r>
            <a:endParaRPr lang="en-US" sz="727" dirty="0"/>
          </a:p>
        </p:txBody>
      </p:sp>
      <p:sp>
        <p:nvSpPr>
          <p:cNvPr id="41" name="Text 33"/>
          <p:cNvSpPr/>
          <p:nvPr/>
        </p:nvSpPr>
        <p:spPr>
          <a:xfrm>
            <a:off x="6191231" y="3341908"/>
            <a:ext cx="2238394"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4F46E5"/>
                </a:solidFill>
                <a:latin typeface="Inter" pitchFamily="34" charset="0"/>
                <a:ea typeface="Inter" pitchFamily="34" charset="-122"/>
                <a:cs typeface="Inter" pitchFamily="34" charset="-120"/>
              </a:rPr>
              <a:t>Mục tiêu</a:t>
            </a:r>
            <a:endParaRPr lang="en-US" sz="734" dirty="0"/>
          </a:p>
        </p:txBody>
      </p:sp>
      <p:sp>
        <p:nvSpPr>
          <p:cNvPr id="42" name="Text 34"/>
          <p:cNvSpPr/>
          <p:nvPr/>
        </p:nvSpPr>
        <p:spPr>
          <a:xfrm>
            <a:off x="6191231" y="3520501"/>
            <a:ext cx="2155627"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Đảm bảo hệ thống có sẵn môi trường để kiểm</a:t>
            </a:r>
            <a:endParaRPr lang="en-US" sz="727" dirty="0"/>
          </a:p>
        </p:txBody>
      </p:sp>
      <p:sp>
        <p:nvSpPr>
          <p:cNvPr id="43" name="Text 35"/>
          <p:cNvSpPr/>
          <p:nvPr/>
        </p:nvSpPr>
        <p:spPr>
          <a:xfrm>
            <a:off x="6191231" y="3670520"/>
            <a:ext cx="1987748"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thử các nghiệp vụ phức tạp mà không cần</a:t>
            </a:r>
            <a:endParaRPr lang="en-US" sz="727" dirty="0"/>
          </a:p>
        </p:txBody>
      </p:sp>
      <p:sp>
        <p:nvSpPr>
          <p:cNvPr id="44" name="Text 36"/>
          <p:cNvSpPr/>
          <p:nvPr/>
        </p:nvSpPr>
        <p:spPr>
          <a:xfrm>
            <a:off x="6191231" y="3820539"/>
            <a:ext cx="903684"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4B5563"/>
                </a:solidFill>
                <a:latin typeface="Inter" pitchFamily="34" charset="0"/>
                <a:ea typeface="Inter" pitchFamily="34" charset="-122"/>
                <a:cs typeface="Inter" pitchFamily="34" charset="-120"/>
              </a:rPr>
              <a:t>nhập liệu thủ công.</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857250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10. ĐẢM BẢO CHẤT LƯỢNG PHẦN MỀM</a:t>
            </a:r>
            <a:endParaRPr lang="en-US" sz="1602" dirty="0"/>
          </a:p>
        </p:txBody>
      </p:sp>
      <p:pic>
        <p:nvPicPr>
          <p:cNvPr id="4" name="Image 1" descr="preencoded.png">    </p:cNvPr>
          <p:cNvPicPr>
            <a:picLocks noChangeAspect="1"/>
          </p:cNvPicPr>
          <p:nvPr/>
        </p:nvPicPr>
        <p:blipFill>
          <a:blip r:embed="rId2"/>
          <a:stretch>
            <a:fillRect/>
          </a:stretch>
        </p:blipFill>
        <p:spPr>
          <a:xfrm>
            <a:off x="571500" y="1127345"/>
            <a:ext cx="157163" cy="157163"/>
          </a:xfrm>
          <a:prstGeom prst="rect">
            <a:avLst/>
          </a:prstGeom>
        </p:spPr>
      </p:pic>
      <p:sp>
        <p:nvSpPr>
          <p:cNvPr id="5" name="Text 1"/>
          <p:cNvSpPr/>
          <p:nvPr/>
        </p:nvSpPr>
        <p:spPr>
          <a:xfrm>
            <a:off x="814388" y="1111272"/>
            <a:ext cx="146804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Kiểm thử hộp trắng</a:t>
            </a:r>
            <a:endParaRPr lang="en-US" sz="1090" dirty="0"/>
          </a:p>
        </p:txBody>
      </p:sp>
      <p:sp>
        <p:nvSpPr>
          <p:cNvPr id="6" name="Text 2"/>
          <p:cNvSpPr/>
          <p:nvPr/>
        </p:nvSpPr>
        <p:spPr>
          <a:xfrm>
            <a:off x="571500" y="1407737"/>
            <a:ext cx="3857625"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4B5563"/>
                </a:solidFill>
                <a:latin typeface="Inter" pitchFamily="34" charset="0"/>
                <a:ea typeface="Inter" pitchFamily="34" charset="-122"/>
                <a:cs typeface="Inter" pitchFamily="34" charset="-120"/>
              </a:rPr>
              <a:t>Tập trung vào logic nghiệp vụ phức tạp (Business Rules).</a:t>
            </a:r>
            <a:endParaRPr lang="en-US" sz="727" dirty="0"/>
          </a:p>
        </p:txBody>
      </p:sp>
      <p:sp>
        <p:nvSpPr>
          <p:cNvPr id="7" name="Shape 3"/>
          <p:cNvSpPr/>
          <p:nvPr/>
        </p:nvSpPr>
        <p:spPr>
          <a:xfrm>
            <a:off x="571500" y="1636337"/>
            <a:ext cx="699836" cy="255389"/>
          </a:xfrm>
          <a:prstGeom prst="rect">
            <a:avLst/>
          </a:prstGeom>
          <a:solidFill>
            <a:srgbClr val="1E1B4B"/>
          </a:solidFill>
          <a:ln/>
        </p:spPr>
      </p:sp>
      <p:sp>
        <p:nvSpPr>
          <p:cNvPr id="8" name="Text 4"/>
          <p:cNvSpPr/>
          <p:nvPr/>
        </p:nvSpPr>
        <p:spPr>
          <a:xfrm>
            <a:off x="571500" y="1636337"/>
            <a:ext cx="699836" cy="255389"/>
          </a:xfrm>
          <a:prstGeom prst="rect">
            <a:avLst/>
          </a:prstGeom>
          <a:noFill/>
          <a:ln/>
        </p:spPr>
        <p:txBody>
          <a:bodyPr wrap="square" lIns="85090" tIns="85090" rIns="85090" bIns="85090" rtlCol="0" anchor="ctr">
            <a:spAutoFit/>
          </a:bodyPr>
          <a:lstStyle/>
          <a:p>
            <a:pPr algn="l" indent="0" marL="0">
              <a:lnSpc>
                <a:spcPts val="900"/>
              </a:lnSpc>
              <a:buNone/>
            </a:pPr>
            <a:r>
              <a:rPr lang="en-US" sz="634" b="1" dirty="0">
                <a:solidFill>
                  <a:srgbClr val="FFFFFF"/>
                </a:solidFill>
                <a:latin typeface="Inter" pitchFamily="34" charset="0"/>
                <a:ea typeface="Inter" pitchFamily="34" charset="-122"/>
                <a:cs typeface="Inter" pitchFamily="34" charset="-120"/>
              </a:rPr>
              <a:t>ID</a:t>
            </a:r>
            <a:endParaRPr lang="en-US" sz="634" dirty="0"/>
          </a:p>
        </p:txBody>
      </p:sp>
      <p:sp>
        <p:nvSpPr>
          <p:cNvPr id="9" name="Shape 5"/>
          <p:cNvSpPr/>
          <p:nvPr/>
        </p:nvSpPr>
        <p:spPr>
          <a:xfrm>
            <a:off x="1271336" y="1636337"/>
            <a:ext cx="2494257" cy="255389"/>
          </a:xfrm>
          <a:prstGeom prst="rect">
            <a:avLst/>
          </a:prstGeom>
          <a:solidFill>
            <a:srgbClr val="1E1B4B"/>
          </a:solidFill>
          <a:ln/>
        </p:spPr>
      </p:sp>
      <p:sp>
        <p:nvSpPr>
          <p:cNvPr id="10" name="Text 6"/>
          <p:cNvSpPr/>
          <p:nvPr/>
        </p:nvSpPr>
        <p:spPr>
          <a:xfrm>
            <a:off x="1271336" y="1636337"/>
            <a:ext cx="2494257" cy="255389"/>
          </a:xfrm>
          <a:prstGeom prst="rect">
            <a:avLst/>
          </a:prstGeom>
          <a:noFill/>
          <a:ln/>
        </p:spPr>
        <p:txBody>
          <a:bodyPr wrap="square" lIns="85090" tIns="85090" rIns="85090" bIns="85090" rtlCol="0" anchor="ctr">
            <a:spAutoFit/>
          </a:bodyPr>
          <a:lstStyle/>
          <a:p>
            <a:pPr algn="l" indent="0" marL="0">
              <a:lnSpc>
                <a:spcPts val="900"/>
              </a:lnSpc>
              <a:buNone/>
            </a:pPr>
            <a:r>
              <a:rPr lang="en-US" sz="634" b="1" dirty="0">
                <a:solidFill>
                  <a:srgbClr val="FFFFFF"/>
                </a:solidFill>
                <a:latin typeface="Inter" pitchFamily="34" charset="0"/>
                <a:ea typeface="Inter" pitchFamily="34" charset="-122"/>
                <a:cs typeface="Inter" pitchFamily="34" charset="-120"/>
              </a:rPr>
              <a:t>Nội dung kiểm thử</a:t>
            </a:r>
            <a:endParaRPr lang="en-US" sz="634" dirty="0"/>
          </a:p>
        </p:txBody>
      </p:sp>
      <p:sp>
        <p:nvSpPr>
          <p:cNvPr id="11" name="Shape 7"/>
          <p:cNvSpPr/>
          <p:nvPr/>
        </p:nvSpPr>
        <p:spPr>
          <a:xfrm>
            <a:off x="3765593" y="1636337"/>
            <a:ext cx="663532" cy="255389"/>
          </a:xfrm>
          <a:prstGeom prst="rect">
            <a:avLst/>
          </a:prstGeom>
          <a:solidFill>
            <a:srgbClr val="1E1B4B"/>
          </a:solidFill>
          <a:ln/>
        </p:spPr>
      </p:sp>
      <p:sp>
        <p:nvSpPr>
          <p:cNvPr id="12" name="Text 8"/>
          <p:cNvSpPr/>
          <p:nvPr/>
        </p:nvSpPr>
        <p:spPr>
          <a:xfrm>
            <a:off x="3765593" y="1636337"/>
            <a:ext cx="663532" cy="255389"/>
          </a:xfrm>
          <a:prstGeom prst="rect">
            <a:avLst/>
          </a:prstGeom>
          <a:noFill/>
          <a:ln/>
        </p:spPr>
        <p:txBody>
          <a:bodyPr wrap="square" lIns="85090" tIns="85090" rIns="85090" bIns="85090" rtlCol="0" anchor="ctr">
            <a:spAutoFit/>
          </a:bodyPr>
          <a:lstStyle/>
          <a:p>
            <a:pPr algn="l" indent="0" marL="0">
              <a:lnSpc>
                <a:spcPts val="900"/>
              </a:lnSpc>
              <a:buNone/>
            </a:pPr>
            <a:r>
              <a:rPr lang="en-US" sz="634" b="1" dirty="0">
                <a:solidFill>
                  <a:srgbClr val="FFFFFF"/>
                </a:solidFill>
                <a:latin typeface="Inter" pitchFamily="34" charset="0"/>
                <a:ea typeface="Inter" pitchFamily="34" charset="-122"/>
                <a:cs typeface="Inter" pitchFamily="34" charset="-120"/>
              </a:rPr>
              <a:t>Kết quả</a:t>
            </a:r>
            <a:endParaRPr lang="en-US" sz="634" dirty="0"/>
          </a:p>
        </p:txBody>
      </p:sp>
      <p:sp>
        <p:nvSpPr>
          <p:cNvPr id="13" name="Text 9"/>
          <p:cNvSpPr/>
          <p:nvPr/>
        </p:nvSpPr>
        <p:spPr>
          <a:xfrm>
            <a:off x="571500" y="1891726"/>
            <a:ext cx="699836" cy="276458"/>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TC-W01</a:t>
            </a:r>
            <a:endParaRPr lang="en-US" sz="674" dirty="0"/>
          </a:p>
        </p:txBody>
      </p:sp>
      <p:sp>
        <p:nvSpPr>
          <p:cNvPr id="14" name="Text 10"/>
          <p:cNvSpPr/>
          <p:nvPr/>
        </p:nvSpPr>
        <p:spPr>
          <a:xfrm>
            <a:off x="1271336" y="1891726"/>
            <a:ext cx="2494257" cy="276458"/>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Tính tiền hoàn trả cọc khi thanh lý HĐ</a:t>
            </a:r>
            <a:endParaRPr lang="en-US" sz="674" dirty="0"/>
          </a:p>
        </p:txBody>
      </p:sp>
      <p:sp>
        <p:nvSpPr>
          <p:cNvPr id="15" name="Text 11"/>
          <p:cNvSpPr/>
          <p:nvPr/>
        </p:nvSpPr>
        <p:spPr>
          <a:xfrm>
            <a:off x="3765593" y="1891726"/>
            <a:ext cx="663532" cy="276458"/>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16" name="Text 12"/>
          <p:cNvSpPr/>
          <p:nvPr/>
        </p:nvSpPr>
        <p:spPr>
          <a:xfrm>
            <a:off x="571500" y="2168184"/>
            <a:ext cx="699836"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TC-W02</a:t>
            </a:r>
            <a:endParaRPr lang="en-US" sz="674" dirty="0"/>
          </a:p>
        </p:txBody>
      </p:sp>
      <p:sp>
        <p:nvSpPr>
          <p:cNvPr id="17" name="Text 13"/>
          <p:cNvSpPr/>
          <p:nvPr/>
        </p:nvSpPr>
        <p:spPr>
          <a:xfrm>
            <a:off x="1271336" y="2168184"/>
            <a:ext cx="2494257"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Tính tiền điện/nước theo chỉ số cũ/mới</a:t>
            </a:r>
            <a:endParaRPr lang="en-US" sz="674" dirty="0"/>
          </a:p>
        </p:txBody>
      </p:sp>
      <p:sp>
        <p:nvSpPr>
          <p:cNvPr id="18" name="Text 14"/>
          <p:cNvSpPr/>
          <p:nvPr/>
        </p:nvSpPr>
        <p:spPr>
          <a:xfrm>
            <a:off x="3765593" y="2168184"/>
            <a:ext cx="663532" cy="280029"/>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19" name="Text 15"/>
          <p:cNvSpPr/>
          <p:nvPr/>
        </p:nvSpPr>
        <p:spPr>
          <a:xfrm>
            <a:off x="571500" y="2448213"/>
            <a:ext cx="699836"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TC-W03</a:t>
            </a:r>
            <a:endParaRPr lang="en-US" sz="674" dirty="0"/>
          </a:p>
        </p:txBody>
      </p:sp>
      <p:sp>
        <p:nvSpPr>
          <p:cNvPr id="20" name="Text 16"/>
          <p:cNvSpPr/>
          <p:nvPr/>
        </p:nvSpPr>
        <p:spPr>
          <a:xfrm>
            <a:off x="1271336" y="2448213"/>
            <a:ext cx="2494257"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Tự động cập nhật trạng thái phòng</a:t>
            </a:r>
            <a:endParaRPr lang="en-US" sz="674" dirty="0"/>
          </a:p>
        </p:txBody>
      </p:sp>
      <p:sp>
        <p:nvSpPr>
          <p:cNvPr id="21" name="Text 17"/>
          <p:cNvSpPr/>
          <p:nvPr/>
        </p:nvSpPr>
        <p:spPr>
          <a:xfrm>
            <a:off x="3765593" y="2448213"/>
            <a:ext cx="663532" cy="280029"/>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22" name="Text 18"/>
          <p:cNvSpPr/>
          <p:nvPr/>
        </p:nvSpPr>
        <p:spPr>
          <a:xfrm>
            <a:off x="571500" y="2728243"/>
            <a:ext cx="699836"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TC-W04</a:t>
            </a:r>
            <a:endParaRPr lang="en-US" sz="674" dirty="0"/>
          </a:p>
        </p:txBody>
      </p:sp>
      <p:sp>
        <p:nvSpPr>
          <p:cNvPr id="23" name="Text 19"/>
          <p:cNvSpPr/>
          <p:nvPr/>
        </p:nvSpPr>
        <p:spPr>
          <a:xfrm>
            <a:off x="1271336" y="2728243"/>
            <a:ext cx="2494257"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Kiểm tra quyền truy cập Multi-tenant</a:t>
            </a:r>
            <a:endParaRPr lang="en-US" sz="674" dirty="0"/>
          </a:p>
        </p:txBody>
      </p:sp>
      <p:sp>
        <p:nvSpPr>
          <p:cNvPr id="24" name="Text 20"/>
          <p:cNvSpPr/>
          <p:nvPr/>
        </p:nvSpPr>
        <p:spPr>
          <a:xfrm>
            <a:off x="3765593" y="2728243"/>
            <a:ext cx="663532" cy="280029"/>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25" name="Shape 21"/>
          <p:cNvSpPr/>
          <p:nvPr/>
        </p:nvSpPr>
        <p:spPr>
          <a:xfrm>
            <a:off x="571500" y="3154719"/>
            <a:ext cx="3857625" cy="685800"/>
          </a:xfrm>
          <a:prstGeom prst="rect">
            <a:avLst/>
          </a:prstGeom>
          <a:solidFill>
            <a:srgbClr val="F5F3FF"/>
          </a:solidFill>
          <a:ln/>
        </p:spPr>
      </p:sp>
      <p:sp>
        <p:nvSpPr>
          <p:cNvPr id="26" name="Text 22"/>
          <p:cNvSpPr/>
          <p:nvPr/>
        </p:nvSpPr>
        <p:spPr>
          <a:xfrm>
            <a:off x="714375" y="3397607"/>
            <a:ext cx="3571875"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1E1B4B"/>
                </a:solidFill>
                <a:latin typeface="Inter" pitchFamily="34" charset="0"/>
                <a:ea typeface="Inter" pitchFamily="34" charset="-122"/>
                <a:cs typeface="Inter" pitchFamily="34" charset="-120"/>
              </a:rPr>
              <a:t>Kết luận:</a:t>
            </a:r>
            <a:r>
              <a:rPr lang="en-US" sz="727" dirty="0">
                <a:solidFill>
                  <a:srgbClr val="1E1B4B"/>
                </a:solidFill>
                <a:latin typeface="Inter" pitchFamily="34" charset="0"/>
                <a:ea typeface="Inter" pitchFamily="34" charset="-122"/>
                <a:cs typeface="Inter" pitchFamily="34" charset="-120"/>
              </a:rPr>
              <a:t> Các hàm xử lý toán học và logic phân quyền đạt độ chính xác </a:t>
            </a:r>
            <a:r>
              <a:rPr lang="en-US" sz="727" dirty="0">
                <a:solidFill>
                  <a:srgbClr val="1E1B4B"/>
                </a:solidFill>
                <a:latin typeface="Inter" pitchFamily="34" charset="0"/>
                <a:ea typeface="Inter" pitchFamily="34" charset="-122"/>
                <a:cs typeface="Inter" pitchFamily="34" charset="-120"/>
              </a:rPr>
              <a:t>100% trong các kịch bản kiểm thử đơn vị (Unit Test).</a:t>
            </a:r>
            <a:endParaRPr lang="en-US" sz="683" dirty="0"/>
          </a:p>
        </p:txBody>
      </p:sp>
      <p:pic>
        <p:nvPicPr>
          <p:cNvPr id="27" name="Image 2" descr="preencoded.png">    </p:cNvPr>
          <p:cNvPicPr>
            <a:picLocks noChangeAspect="1"/>
          </p:cNvPicPr>
          <p:nvPr/>
        </p:nvPicPr>
        <p:blipFill>
          <a:blip r:embed="rId3"/>
          <a:stretch>
            <a:fillRect/>
          </a:stretch>
        </p:blipFill>
        <p:spPr>
          <a:xfrm>
            <a:off x="4714875" y="1127345"/>
            <a:ext cx="157163" cy="157163"/>
          </a:xfrm>
          <a:prstGeom prst="rect">
            <a:avLst/>
          </a:prstGeom>
        </p:spPr>
      </p:pic>
      <p:sp>
        <p:nvSpPr>
          <p:cNvPr id="28" name="Text 23"/>
          <p:cNvSpPr/>
          <p:nvPr/>
        </p:nvSpPr>
        <p:spPr>
          <a:xfrm>
            <a:off x="4957763" y="1111272"/>
            <a:ext cx="1346597"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E1B4B"/>
                </a:solidFill>
                <a:latin typeface="Inter" pitchFamily="34" charset="0"/>
                <a:ea typeface="Inter" pitchFamily="34" charset="-122"/>
                <a:cs typeface="Inter" pitchFamily="34" charset="-120"/>
              </a:rPr>
              <a:t>Kiểm thử hộp đen</a:t>
            </a:r>
            <a:endParaRPr lang="en-US" sz="1090" dirty="0"/>
          </a:p>
        </p:txBody>
      </p:sp>
      <p:sp>
        <p:nvSpPr>
          <p:cNvPr id="29" name="Text 24"/>
          <p:cNvSpPr/>
          <p:nvPr/>
        </p:nvSpPr>
        <p:spPr>
          <a:xfrm>
            <a:off x="4714875" y="1407737"/>
            <a:ext cx="3857625"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4B5563"/>
                </a:solidFill>
                <a:latin typeface="Inter" pitchFamily="34" charset="0"/>
                <a:ea typeface="Inter" pitchFamily="34" charset="-122"/>
                <a:cs typeface="Inter" pitchFamily="34" charset="-120"/>
              </a:rPr>
              <a:t>Kiểm thử chức năng từ góc độ người dùng (UI/UX).</a:t>
            </a:r>
            <a:endParaRPr lang="en-US" sz="727" dirty="0"/>
          </a:p>
        </p:txBody>
      </p:sp>
      <p:sp>
        <p:nvSpPr>
          <p:cNvPr id="30" name="Shape 25"/>
          <p:cNvSpPr/>
          <p:nvPr/>
        </p:nvSpPr>
        <p:spPr>
          <a:xfrm>
            <a:off x="4714875" y="1636337"/>
            <a:ext cx="713873" cy="255389"/>
          </a:xfrm>
          <a:prstGeom prst="rect">
            <a:avLst/>
          </a:prstGeom>
          <a:solidFill>
            <a:srgbClr val="1E1B4B"/>
          </a:solidFill>
          <a:ln/>
        </p:spPr>
      </p:sp>
      <p:sp>
        <p:nvSpPr>
          <p:cNvPr id="31" name="Text 26"/>
          <p:cNvSpPr/>
          <p:nvPr/>
        </p:nvSpPr>
        <p:spPr>
          <a:xfrm>
            <a:off x="4714875" y="1636337"/>
            <a:ext cx="713873" cy="255389"/>
          </a:xfrm>
          <a:prstGeom prst="rect">
            <a:avLst/>
          </a:prstGeom>
          <a:noFill/>
          <a:ln/>
        </p:spPr>
        <p:txBody>
          <a:bodyPr wrap="square" lIns="85090" tIns="85090" rIns="85090" bIns="85090" rtlCol="0" anchor="ctr">
            <a:spAutoFit/>
          </a:bodyPr>
          <a:lstStyle/>
          <a:p>
            <a:pPr algn="l" indent="0" marL="0">
              <a:lnSpc>
                <a:spcPts val="900"/>
              </a:lnSpc>
              <a:buNone/>
            </a:pPr>
            <a:r>
              <a:rPr lang="en-US" sz="634" b="1" dirty="0">
                <a:solidFill>
                  <a:srgbClr val="FFFFFF"/>
                </a:solidFill>
                <a:latin typeface="Inter" pitchFamily="34" charset="0"/>
                <a:ea typeface="Inter" pitchFamily="34" charset="-122"/>
                <a:cs typeface="Inter" pitchFamily="34" charset="-120"/>
              </a:rPr>
              <a:t>ID</a:t>
            </a:r>
            <a:endParaRPr lang="en-US" sz="634" dirty="0"/>
          </a:p>
        </p:txBody>
      </p:sp>
      <p:sp>
        <p:nvSpPr>
          <p:cNvPr id="32" name="Shape 27"/>
          <p:cNvSpPr/>
          <p:nvPr/>
        </p:nvSpPr>
        <p:spPr>
          <a:xfrm>
            <a:off x="5428748" y="1636337"/>
            <a:ext cx="2274057" cy="255389"/>
          </a:xfrm>
          <a:prstGeom prst="rect">
            <a:avLst/>
          </a:prstGeom>
          <a:solidFill>
            <a:srgbClr val="1E1B4B"/>
          </a:solidFill>
          <a:ln/>
        </p:spPr>
      </p:sp>
      <p:sp>
        <p:nvSpPr>
          <p:cNvPr id="33" name="Text 28"/>
          <p:cNvSpPr/>
          <p:nvPr/>
        </p:nvSpPr>
        <p:spPr>
          <a:xfrm>
            <a:off x="5428748" y="1636337"/>
            <a:ext cx="2274057" cy="255389"/>
          </a:xfrm>
          <a:prstGeom prst="rect">
            <a:avLst/>
          </a:prstGeom>
          <a:noFill/>
          <a:ln/>
        </p:spPr>
        <p:txBody>
          <a:bodyPr wrap="square" lIns="85090" tIns="85090" rIns="85090" bIns="85090" rtlCol="0" anchor="ctr">
            <a:spAutoFit/>
          </a:bodyPr>
          <a:lstStyle/>
          <a:p>
            <a:pPr algn="l" indent="0" marL="0">
              <a:lnSpc>
                <a:spcPts val="900"/>
              </a:lnSpc>
              <a:buNone/>
            </a:pPr>
            <a:r>
              <a:rPr lang="en-US" sz="634" b="1" dirty="0">
                <a:solidFill>
                  <a:srgbClr val="FFFFFF"/>
                </a:solidFill>
                <a:latin typeface="Inter" pitchFamily="34" charset="0"/>
                <a:ea typeface="Inter" pitchFamily="34" charset="-122"/>
                <a:cs typeface="Inter" pitchFamily="34" charset="-120"/>
              </a:rPr>
              <a:t>Chức năng</a:t>
            </a:r>
            <a:endParaRPr lang="en-US" sz="634" dirty="0"/>
          </a:p>
        </p:txBody>
      </p:sp>
      <p:sp>
        <p:nvSpPr>
          <p:cNvPr id="34" name="Shape 29"/>
          <p:cNvSpPr/>
          <p:nvPr/>
        </p:nvSpPr>
        <p:spPr>
          <a:xfrm>
            <a:off x="7702804" y="1636337"/>
            <a:ext cx="869696" cy="255389"/>
          </a:xfrm>
          <a:prstGeom prst="rect">
            <a:avLst/>
          </a:prstGeom>
          <a:solidFill>
            <a:srgbClr val="1E1B4B"/>
          </a:solidFill>
          <a:ln/>
        </p:spPr>
      </p:sp>
      <p:sp>
        <p:nvSpPr>
          <p:cNvPr id="35" name="Text 30"/>
          <p:cNvSpPr/>
          <p:nvPr/>
        </p:nvSpPr>
        <p:spPr>
          <a:xfrm>
            <a:off x="7702804" y="1636337"/>
            <a:ext cx="869696" cy="255389"/>
          </a:xfrm>
          <a:prstGeom prst="rect">
            <a:avLst/>
          </a:prstGeom>
          <a:noFill/>
          <a:ln/>
        </p:spPr>
        <p:txBody>
          <a:bodyPr wrap="square" lIns="85090" tIns="85090" rIns="85090" bIns="85090" rtlCol="0" anchor="ctr">
            <a:spAutoFit/>
          </a:bodyPr>
          <a:lstStyle/>
          <a:p>
            <a:pPr algn="l" indent="0" marL="0">
              <a:lnSpc>
                <a:spcPts val="900"/>
              </a:lnSpc>
              <a:buNone/>
            </a:pPr>
            <a:r>
              <a:rPr lang="en-US" sz="634" b="1" dirty="0">
                <a:solidFill>
                  <a:srgbClr val="FFFFFF"/>
                </a:solidFill>
                <a:latin typeface="Inter" pitchFamily="34" charset="0"/>
                <a:ea typeface="Inter" pitchFamily="34" charset="-122"/>
                <a:cs typeface="Inter" pitchFamily="34" charset="-120"/>
              </a:rPr>
              <a:t>Trạng thái</a:t>
            </a:r>
            <a:endParaRPr lang="en-US" sz="634" dirty="0"/>
          </a:p>
        </p:txBody>
      </p:sp>
      <p:sp>
        <p:nvSpPr>
          <p:cNvPr id="36" name="Text 31"/>
          <p:cNvSpPr/>
          <p:nvPr/>
        </p:nvSpPr>
        <p:spPr>
          <a:xfrm>
            <a:off x="4714875" y="1891726"/>
            <a:ext cx="713873" cy="276458"/>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TC-B01</a:t>
            </a:r>
            <a:endParaRPr lang="en-US" sz="674" dirty="0"/>
          </a:p>
        </p:txBody>
      </p:sp>
      <p:sp>
        <p:nvSpPr>
          <p:cNvPr id="37" name="Text 32"/>
          <p:cNvSpPr/>
          <p:nvPr/>
        </p:nvSpPr>
        <p:spPr>
          <a:xfrm>
            <a:off x="5428748" y="1891726"/>
            <a:ext cx="2274057" cy="276458"/>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Đăng nhập (Đúng/Sai mật khẩu)</a:t>
            </a:r>
            <a:endParaRPr lang="en-US" sz="674" dirty="0"/>
          </a:p>
        </p:txBody>
      </p:sp>
      <p:sp>
        <p:nvSpPr>
          <p:cNvPr id="38" name="Text 33"/>
          <p:cNvSpPr/>
          <p:nvPr/>
        </p:nvSpPr>
        <p:spPr>
          <a:xfrm>
            <a:off x="7702804" y="1891726"/>
            <a:ext cx="869696" cy="276458"/>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39" name="Text 34"/>
          <p:cNvSpPr/>
          <p:nvPr/>
        </p:nvSpPr>
        <p:spPr>
          <a:xfrm>
            <a:off x="4714875" y="2168184"/>
            <a:ext cx="713873"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TC-B02</a:t>
            </a:r>
            <a:endParaRPr lang="en-US" sz="674" dirty="0"/>
          </a:p>
        </p:txBody>
      </p:sp>
      <p:sp>
        <p:nvSpPr>
          <p:cNvPr id="40" name="Text 35"/>
          <p:cNvSpPr/>
          <p:nvPr/>
        </p:nvSpPr>
        <p:spPr>
          <a:xfrm>
            <a:off x="5428748" y="2168184"/>
            <a:ext cx="2274057"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Tạo phòng (Validation dữ liệu)</a:t>
            </a:r>
            <a:endParaRPr lang="en-US" sz="674" dirty="0"/>
          </a:p>
        </p:txBody>
      </p:sp>
      <p:sp>
        <p:nvSpPr>
          <p:cNvPr id="41" name="Text 36"/>
          <p:cNvSpPr/>
          <p:nvPr/>
        </p:nvSpPr>
        <p:spPr>
          <a:xfrm>
            <a:off x="7702804" y="2168184"/>
            <a:ext cx="869696" cy="280029"/>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42" name="Text 37"/>
          <p:cNvSpPr/>
          <p:nvPr/>
        </p:nvSpPr>
        <p:spPr>
          <a:xfrm>
            <a:off x="4714875" y="2448213"/>
            <a:ext cx="713873"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TC-B03</a:t>
            </a:r>
            <a:endParaRPr lang="en-US" sz="674" dirty="0"/>
          </a:p>
        </p:txBody>
      </p:sp>
      <p:sp>
        <p:nvSpPr>
          <p:cNvPr id="43" name="Text 38"/>
          <p:cNvSpPr/>
          <p:nvPr/>
        </p:nvSpPr>
        <p:spPr>
          <a:xfrm>
            <a:off x="5428748" y="2448213"/>
            <a:ext cx="2274057"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Tạo hợp đồng (Ràng buộc ngày)</a:t>
            </a:r>
            <a:endParaRPr lang="en-US" sz="674" dirty="0"/>
          </a:p>
        </p:txBody>
      </p:sp>
      <p:sp>
        <p:nvSpPr>
          <p:cNvPr id="44" name="Text 39"/>
          <p:cNvSpPr/>
          <p:nvPr/>
        </p:nvSpPr>
        <p:spPr>
          <a:xfrm>
            <a:off x="7702804" y="2448213"/>
            <a:ext cx="869696" cy="280029"/>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45" name="Text 40"/>
          <p:cNvSpPr/>
          <p:nvPr/>
        </p:nvSpPr>
        <p:spPr>
          <a:xfrm>
            <a:off x="4714875" y="2728243"/>
            <a:ext cx="713873"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TC-B04</a:t>
            </a:r>
            <a:endParaRPr lang="en-US" sz="674" dirty="0"/>
          </a:p>
        </p:txBody>
      </p:sp>
      <p:sp>
        <p:nvSpPr>
          <p:cNvPr id="46" name="Text 41"/>
          <p:cNvSpPr/>
          <p:nvPr/>
        </p:nvSpPr>
        <p:spPr>
          <a:xfrm>
            <a:off x="5428748" y="2728243"/>
            <a:ext cx="2274057" cy="280029"/>
          </a:xfrm>
          <a:prstGeom prst="rect">
            <a:avLst/>
          </a:prstGeom>
          <a:noFill/>
          <a:ln/>
        </p:spPr>
        <p:txBody>
          <a:bodyPr wrap="square" lIns="85090" tIns="85090" rIns="85090" bIns="85090" rtlCol="0" anchor="ctr">
            <a:spAutoFit/>
          </a:bodyPr>
          <a:lstStyle/>
          <a:p>
            <a:pPr algn="l" indent="0" marL="0">
              <a:lnSpc>
                <a:spcPts val="1000"/>
              </a:lnSpc>
              <a:buNone/>
            </a:pPr>
            <a:r>
              <a:rPr lang="en-US" sz="674" dirty="0">
                <a:solidFill>
                  <a:srgbClr val="1E1B4B"/>
                </a:solidFill>
                <a:latin typeface="Inter" pitchFamily="34" charset="0"/>
                <a:ea typeface="Inter" pitchFamily="34" charset="-122"/>
                <a:cs typeface="Inter" pitchFamily="34" charset="-120"/>
              </a:rPr>
              <a:t>Gửi Ticket &amp; Phản hồi cư dân</a:t>
            </a:r>
            <a:endParaRPr lang="en-US" sz="674" dirty="0"/>
          </a:p>
        </p:txBody>
      </p:sp>
      <p:sp>
        <p:nvSpPr>
          <p:cNvPr id="47" name="Text 42"/>
          <p:cNvSpPr/>
          <p:nvPr/>
        </p:nvSpPr>
        <p:spPr>
          <a:xfrm>
            <a:off x="7702804" y="2728243"/>
            <a:ext cx="869696" cy="280029"/>
          </a:xfrm>
          <a:prstGeom prst="rect">
            <a:avLst/>
          </a:prstGeom>
          <a:noFill/>
          <a:ln/>
        </p:spPr>
        <p:txBody>
          <a:bodyPr wrap="square" lIns="85090" tIns="85090" rIns="85090" bIns="85090" rtlCol="0" anchor="ctr">
            <a:spAutoFit/>
          </a:bodyPr>
          <a:lstStyle/>
          <a:p>
            <a:pPr algn="l" indent="0" marL="0">
              <a:lnSpc>
                <a:spcPts val="1000"/>
              </a:lnSpc>
              <a:buNone/>
            </a:pPr>
            <a:r>
              <a:rPr lang="en-US" sz="634" b="1" dirty="0">
                <a:solidFill>
                  <a:srgbClr val="10B981"/>
                </a:solidFill>
                <a:latin typeface="Inter" pitchFamily="34" charset="0"/>
                <a:ea typeface="Inter" pitchFamily="34" charset="-122"/>
                <a:cs typeface="Inter" pitchFamily="34" charset="-120"/>
              </a:rPr>
              <a:t>PASS</a:t>
            </a:r>
            <a:endParaRPr lang="en-US" sz="634" dirty="0"/>
          </a:p>
        </p:txBody>
      </p:sp>
      <p:sp>
        <p:nvSpPr>
          <p:cNvPr id="48" name="Shape 43"/>
          <p:cNvSpPr/>
          <p:nvPr/>
        </p:nvSpPr>
        <p:spPr>
          <a:xfrm>
            <a:off x="4714875" y="3154719"/>
            <a:ext cx="3857625" cy="685800"/>
          </a:xfrm>
          <a:prstGeom prst="rect">
            <a:avLst/>
          </a:prstGeom>
          <a:solidFill>
            <a:srgbClr val="F5F3FF"/>
          </a:solidFill>
          <a:ln/>
        </p:spPr>
      </p:sp>
      <p:sp>
        <p:nvSpPr>
          <p:cNvPr id="49" name="Text 44"/>
          <p:cNvSpPr/>
          <p:nvPr/>
        </p:nvSpPr>
        <p:spPr>
          <a:xfrm>
            <a:off x="4857750" y="3397607"/>
            <a:ext cx="3571875"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1E1B4B"/>
                </a:solidFill>
                <a:latin typeface="Inter" pitchFamily="34" charset="0"/>
                <a:ea typeface="Inter" pitchFamily="34" charset="-122"/>
                <a:cs typeface="Inter" pitchFamily="34" charset="-120"/>
              </a:rPr>
              <a:t>Kết luận:</a:t>
            </a:r>
            <a:r>
              <a:rPr lang="en-US" sz="727" dirty="0">
                <a:solidFill>
                  <a:srgbClr val="1E1B4B"/>
                </a:solidFill>
                <a:latin typeface="Inter" pitchFamily="34" charset="0"/>
                <a:ea typeface="Inter" pitchFamily="34" charset="-122"/>
                <a:cs typeface="Inter" pitchFamily="34" charset="-120"/>
              </a:rPr>
              <a:t> Hệ thống xử lý tốt các trường hợp ngoại lệ, thông báo lỗi rõ ràng </a:t>
            </a:r>
            <a:r>
              <a:rPr lang="en-US" sz="727" dirty="0">
                <a:solidFill>
                  <a:srgbClr val="1E1B4B"/>
                </a:solidFill>
                <a:latin typeface="Inter" pitchFamily="34" charset="0"/>
                <a:ea typeface="Inter" pitchFamily="34" charset="-122"/>
                <a:cs typeface="Inter" pitchFamily="34" charset="-120"/>
              </a:rPr>
              <a:t>và đảm bảo tính toàn vẹn dữ liệu trên giao diện.</a:t>
            </a:r>
            <a:endParaRPr lang="en-US" sz="68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18353"/>
            <a:ext cx="397452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4F46E5"/>
                </a:solidFill>
                <a:latin typeface="Montserrat" pitchFamily="34" charset="0"/>
                <a:ea typeface="Montserrat" pitchFamily="34" charset="-122"/>
                <a:cs typeface="Montserrat" pitchFamily="34" charset="-120"/>
              </a:rPr>
              <a:t>11. KẾT LUẬN</a:t>
            </a:r>
            <a:endParaRPr lang="en-US" sz="1602" dirty="0"/>
          </a:p>
        </p:txBody>
      </p:sp>
      <p:pic>
        <p:nvPicPr>
          <p:cNvPr id="4" name="Image 1" descr="preencoded.png">    </p:cNvPr>
          <p:cNvPicPr>
            <a:picLocks noChangeAspect="1"/>
          </p:cNvPicPr>
          <p:nvPr/>
        </p:nvPicPr>
        <p:blipFill>
          <a:blip r:embed="rId2"/>
          <a:stretch>
            <a:fillRect/>
          </a:stretch>
        </p:blipFill>
        <p:spPr>
          <a:xfrm>
            <a:off x="571500" y="1200569"/>
            <a:ext cx="150019" cy="171450"/>
          </a:xfrm>
          <a:prstGeom prst="rect">
            <a:avLst/>
          </a:prstGeom>
        </p:spPr>
      </p:pic>
      <p:sp>
        <p:nvSpPr>
          <p:cNvPr id="5" name="Text 1"/>
          <p:cNvSpPr/>
          <p:nvPr/>
        </p:nvSpPr>
        <p:spPr>
          <a:xfrm>
            <a:off x="828675" y="1182709"/>
            <a:ext cx="1425178"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E1B4B"/>
                </a:solidFill>
                <a:latin typeface="Inter" pitchFamily="34" charset="0"/>
                <a:ea typeface="Inter" pitchFamily="34" charset="-122"/>
                <a:cs typeface="Inter" pitchFamily="34" charset="-120"/>
              </a:rPr>
              <a:t>Kết quả đạt được</a:t>
            </a:r>
            <a:endParaRPr lang="en-US" sz="1193" dirty="0"/>
          </a:p>
        </p:txBody>
      </p:sp>
      <p:pic>
        <p:nvPicPr>
          <p:cNvPr id="6" name="Image 2" descr="preencoded.png">    </p:cNvPr>
          <p:cNvPicPr>
            <a:picLocks noChangeAspect="1"/>
          </p:cNvPicPr>
          <p:nvPr/>
        </p:nvPicPr>
        <p:blipFill>
          <a:blip r:embed="rId3"/>
          <a:stretch>
            <a:fillRect/>
          </a:stretch>
        </p:blipFill>
        <p:spPr>
          <a:xfrm>
            <a:off x="571500" y="1639909"/>
            <a:ext cx="142875" cy="142875"/>
          </a:xfrm>
          <a:prstGeom prst="rect">
            <a:avLst/>
          </a:prstGeom>
        </p:spPr>
      </p:pic>
      <p:sp>
        <p:nvSpPr>
          <p:cNvPr id="7" name="Text 2"/>
          <p:cNvSpPr/>
          <p:nvPr/>
        </p:nvSpPr>
        <p:spPr>
          <a:xfrm>
            <a:off x="857250" y="1604190"/>
            <a:ext cx="368877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E1B4B"/>
                </a:solidFill>
                <a:latin typeface="Inter" pitchFamily="34" charset="0"/>
                <a:ea typeface="Inter" pitchFamily="34" charset="-122"/>
                <a:cs typeface="Inter" pitchFamily="34" charset="-120"/>
              </a:rPr>
              <a:t>Hoàn thiện hệ thống SmartRent với đầy đủ các nghiệp vụ quản lý nhà trọ hiện đại.</a:t>
            </a:r>
            <a:endParaRPr lang="en-US" sz="942" dirty="0"/>
          </a:p>
        </p:txBody>
      </p:sp>
      <p:pic>
        <p:nvPicPr>
          <p:cNvPr id="8" name="Image 3" descr="preencoded.png">    </p:cNvPr>
          <p:cNvPicPr>
            <a:picLocks noChangeAspect="1"/>
          </p:cNvPicPr>
          <p:nvPr/>
        </p:nvPicPr>
        <p:blipFill>
          <a:blip r:embed="rId4"/>
          <a:stretch>
            <a:fillRect/>
          </a:stretch>
        </p:blipFill>
        <p:spPr>
          <a:xfrm>
            <a:off x="571500" y="2204265"/>
            <a:ext cx="142875" cy="142875"/>
          </a:xfrm>
          <a:prstGeom prst="rect">
            <a:avLst/>
          </a:prstGeom>
        </p:spPr>
      </p:pic>
      <p:sp>
        <p:nvSpPr>
          <p:cNvPr id="9" name="Text 3"/>
          <p:cNvSpPr/>
          <p:nvPr/>
        </p:nvSpPr>
        <p:spPr>
          <a:xfrm>
            <a:off x="857250" y="2168547"/>
            <a:ext cx="368877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E1B4B"/>
                </a:solidFill>
                <a:latin typeface="Inter" pitchFamily="34" charset="0"/>
                <a:ea typeface="Inter" pitchFamily="34" charset="-122"/>
                <a:cs typeface="Inter" pitchFamily="34" charset="-120"/>
              </a:rPr>
              <a:t>Áp dụng thành công quy trình Agile/Scrum và các kỹ thuật kỹ nghệ phần mềm chuẩn mực.</a:t>
            </a:r>
            <a:endParaRPr lang="en-US" sz="942" dirty="0"/>
          </a:p>
        </p:txBody>
      </p:sp>
      <p:pic>
        <p:nvPicPr>
          <p:cNvPr id="10" name="Image 4" descr="preencoded.png">    </p:cNvPr>
          <p:cNvPicPr>
            <a:picLocks noChangeAspect="1"/>
          </p:cNvPicPr>
          <p:nvPr/>
        </p:nvPicPr>
        <p:blipFill>
          <a:blip r:embed="rId5"/>
          <a:stretch>
            <a:fillRect/>
          </a:stretch>
        </p:blipFill>
        <p:spPr>
          <a:xfrm>
            <a:off x="571500" y="2768622"/>
            <a:ext cx="142875" cy="142875"/>
          </a:xfrm>
          <a:prstGeom prst="rect">
            <a:avLst/>
          </a:prstGeom>
        </p:spPr>
      </p:pic>
      <p:sp>
        <p:nvSpPr>
          <p:cNvPr id="11" name="Text 4"/>
          <p:cNvSpPr/>
          <p:nvPr/>
        </p:nvSpPr>
        <p:spPr>
          <a:xfrm>
            <a:off x="857250" y="2732903"/>
            <a:ext cx="368877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E1B4B"/>
                </a:solidFill>
                <a:latin typeface="Inter" pitchFamily="34" charset="0"/>
                <a:ea typeface="Inter" pitchFamily="34" charset="-122"/>
                <a:cs typeface="Inter" pitchFamily="34" charset="-120"/>
              </a:rPr>
              <a:t>Đảm bảo tính bảo mật và cách ly dữ liệu tuyệt đối trong kiến trúc Multi-tenant.</a:t>
            </a:r>
            <a:endParaRPr lang="en-US" sz="942" dirty="0"/>
          </a:p>
        </p:txBody>
      </p:sp>
      <p:pic>
        <p:nvPicPr>
          <p:cNvPr id="12" name="Image 5" descr="preencoded.png">    </p:cNvPr>
          <p:cNvPicPr>
            <a:picLocks noChangeAspect="1"/>
          </p:cNvPicPr>
          <p:nvPr/>
        </p:nvPicPr>
        <p:blipFill>
          <a:blip r:embed="rId6"/>
          <a:stretch>
            <a:fillRect/>
          </a:stretch>
        </p:blipFill>
        <p:spPr>
          <a:xfrm>
            <a:off x="571500" y="3332978"/>
            <a:ext cx="142875" cy="142875"/>
          </a:xfrm>
          <a:prstGeom prst="rect">
            <a:avLst/>
          </a:prstGeom>
        </p:spPr>
      </p:pic>
      <p:sp>
        <p:nvSpPr>
          <p:cNvPr id="13" name="Text 5"/>
          <p:cNvSpPr/>
          <p:nvPr/>
        </p:nvSpPr>
        <p:spPr>
          <a:xfrm>
            <a:off x="857250" y="3297259"/>
            <a:ext cx="368877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E1B4B"/>
                </a:solidFill>
                <a:latin typeface="Inter" pitchFamily="34" charset="0"/>
                <a:ea typeface="Inter" pitchFamily="34" charset="-122"/>
                <a:cs typeface="Inter" pitchFamily="34" charset="-120"/>
              </a:rPr>
              <a:t>Giao diện trực quan, hỗ trợ đa thiết bị và tối ưu hóa trải nghiệm người dùng.</a:t>
            </a:r>
            <a:endParaRPr lang="en-US" sz="942" dirty="0"/>
          </a:p>
        </p:txBody>
      </p:sp>
      <p:sp>
        <p:nvSpPr>
          <p:cNvPr id="14" name="Text 6"/>
          <p:cNvSpPr/>
          <p:nvPr/>
        </p:nvSpPr>
        <p:spPr>
          <a:xfrm>
            <a:off x="571500" y="4111647"/>
            <a:ext cx="3974520" cy="242888"/>
          </a:xfrm>
          <a:prstGeom prst="rect">
            <a:avLst/>
          </a:prstGeom>
          <a:noFill/>
          <a:ln/>
        </p:spPr>
        <p:txBody>
          <a:bodyPr wrap="none" lIns="0" tIns="0" rIns="0" bIns="0" rtlCol="0" anchor="t">
            <a:spAutoFit/>
          </a:bodyPr>
          <a:lstStyle/>
          <a:p>
            <a:pPr algn="ctr" indent="0" marL="0">
              <a:lnSpc>
                <a:spcPts val="1900"/>
              </a:lnSpc>
              <a:buNone/>
            </a:pPr>
            <a:r>
              <a:rPr lang="en-US" sz="1486" dirty="0">
                <a:solidFill>
                  <a:srgbClr val="4F46E5"/>
                </a:solidFill>
                <a:latin typeface="Montserrat" pitchFamily="34" charset="0"/>
                <a:ea typeface="Montserrat" pitchFamily="34" charset="-122"/>
                <a:cs typeface="Montserrat" pitchFamily="34" charset="-120"/>
              </a:rPr>
              <a:t>XIN CẢM ƠN!</a:t>
            </a:r>
            <a:endParaRPr lang="en-US" sz="1486" dirty="0"/>
          </a:p>
        </p:txBody>
      </p:sp>
      <p:sp>
        <p:nvSpPr>
          <p:cNvPr id="15" name="Shape 7"/>
          <p:cNvSpPr/>
          <p:nvPr/>
        </p:nvSpPr>
        <p:spPr>
          <a:xfrm>
            <a:off x="4831770" y="0"/>
            <a:ext cx="4312230" cy="5143500"/>
          </a:xfrm>
          <a:prstGeom prst="rect">
            <a:avLst/>
          </a:prstGeom>
          <a:solidFill>
            <a:srgbClr val="1E1B4B"/>
          </a:solidFill>
          <a:ln/>
        </p:spPr>
      </p:sp>
      <p:pic>
        <p:nvPicPr>
          <p:cNvPr id="16" name="Image 6" descr="preencoded.png">    </p:cNvPr>
          <p:cNvPicPr>
            <a:picLocks noChangeAspect="1"/>
          </p:cNvPicPr>
          <p:nvPr/>
        </p:nvPicPr>
        <p:blipFill>
          <a:blip r:embed="rId7"/>
          <a:stretch>
            <a:fillRect/>
          </a:stretch>
        </p:blipFill>
        <p:spPr>
          <a:xfrm>
            <a:off x="5260395" y="446484"/>
            <a:ext cx="171450" cy="171450"/>
          </a:xfrm>
          <a:prstGeom prst="rect">
            <a:avLst/>
          </a:prstGeom>
        </p:spPr>
      </p:pic>
      <p:sp>
        <p:nvSpPr>
          <p:cNvPr id="17" name="Text 8"/>
          <p:cNvSpPr/>
          <p:nvPr/>
        </p:nvSpPr>
        <p:spPr>
          <a:xfrm>
            <a:off x="5539001" y="428625"/>
            <a:ext cx="1410891"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latin typeface="Inter" pitchFamily="34" charset="0"/>
                <a:ea typeface="Inter" pitchFamily="34" charset="-122"/>
                <a:cs typeface="Inter" pitchFamily="34" charset="-120"/>
              </a:rPr>
              <a:t>Hướng phát triển</a:t>
            </a:r>
            <a:endParaRPr lang="en-US" sz="1193" dirty="0"/>
          </a:p>
        </p:txBody>
      </p:sp>
      <p:sp>
        <p:nvSpPr>
          <p:cNvPr id="18" name="Shape 9"/>
          <p:cNvSpPr/>
          <p:nvPr/>
        </p:nvSpPr>
        <p:spPr>
          <a:xfrm>
            <a:off x="5260395" y="850106"/>
            <a:ext cx="3312105" cy="798314"/>
          </a:xfrm>
          <a:prstGeom prst="rect">
            <a:avLst/>
          </a:prstGeom>
          <a:solidFill>
            <a:srgbClr val="4F46E5">
              <a:alpha val="10000"/>
            </a:srgbClr>
          </a:solidFill>
          <a:ln/>
        </p:spPr>
      </p:sp>
      <p:sp>
        <p:nvSpPr>
          <p:cNvPr id="19" name="Shape 10"/>
          <p:cNvSpPr/>
          <p:nvPr/>
        </p:nvSpPr>
        <p:spPr>
          <a:xfrm>
            <a:off x="5260395" y="850106"/>
            <a:ext cx="28575" cy="798314"/>
          </a:xfrm>
          <a:prstGeom prst="rect">
            <a:avLst/>
          </a:prstGeom>
          <a:solidFill>
            <a:srgbClr val="4F46E5"/>
          </a:solidFill>
          <a:ln/>
        </p:spPr>
      </p:sp>
      <p:sp>
        <p:nvSpPr>
          <p:cNvPr id="20" name="Text 11"/>
          <p:cNvSpPr/>
          <p:nvPr/>
        </p:nvSpPr>
        <p:spPr>
          <a:xfrm>
            <a:off x="5403270" y="992981"/>
            <a:ext cx="3026355"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5F3FF"/>
                </a:solidFill>
                <a:latin typeface="Inter" pitchFamily="34" charset="0"/>
                <a:ea typeface="Inter" pitchFamily="34" charset="-122"/>
                <a:cs typeface="Inter" pitchFamily="34" charset="-120"/>
              </a:rPr>
              <a:t>Thanh toán trực tuyến</a:t>
            </a:r>
            <a:endParaRPr lang="en-US" sz="885" dirty="0"/>
          </a:p>
        </p:txBody>
      </p:sp>
      <p:sp>
        <p:nvSpPr>
          <p:cNvPr id="21" name="Text 12"/>
          <p:cNvSpPr/>
          <p:nvPr/>
        </p:nvSpPr>
        <p:spPr>
          <a:xfrm>
            <a:off x="5403270" y="1216223"/>
            <a:ext cx="2950369"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Tích hợp các cổng thanh toán phổ biến như VNPay, MoMo</a:t>
            </a:r>
            <a:endParaRPr lang="en-US" sz="780" dirty="0"/>
          </a:p>
        </p:txBody>
      </p:sp>
      <p:sp>
        <p:nvSpPr>
          <p:cNvPr id="22" name="Text 13"/>
          <p:cNvSpPr/>
          <p:nvPr/>
        </p:nvSpPr>
        <p:spPr>
          <a:xfrm>
            <a:off x="5403270" y="1366242"/>
            <a:ext cx="1657350"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để tự động hóa quy trình thu phí.</a:t>
            </a:r>
            <a:endParaRPr lang="en-US" sz="780" dirty="0"/>
          </a:p>
        </p:txBody>
      </p:sp>
      <p:sp>
        <p:nvSpPr>
          <p:cNvPr id="23" name="Shape 14"/>
          <p:cNvSpPr/>
          <p:nvPr/>
        </p:nvSpPr>
        <p:spPr>
          <a:xfrm>
            <a:off x="5260395" y="1791295"/>
            <a:ext cx="3312105" cy="798314"/>
          </a:xfrm>
          <a:prstGeom prst="rect">
            <a:avLst/>
          </a:prstGeom>
          <a:solidFill>
            <a:srgbClr val="4F46E5">
              <a:alpha val="10000"/>
            </a:srgbClr>
          </a:solidFill>
          <a:ln/>
        </p:spPr>
      </p:sp>
      <p:sp>
        <p:nvSpPr>
          <p:cNvPr id="24" name="Shape 15"/>
          <p:cNvSpPr/>
          <p:nvPr/>
        </p:nvSpPr>
        <p:spPr>
          <a:xfrm>
            <a:off x="5260395" y="1791295"/>
            <a:ext cx="28575" cy="798314"/>
          </a:xfrm>
          <a:prstGeom prst="rect">
            <a:avLst/>
          </a:prstGeom>
          <a:solidFill>
            <a:srgbClr val="4F46E5"/>
          </a:solidFill>
          <a:ln/>
        </p:spPr>
      </p:sp>
      <p:sp>
        <p:nvSpPr>
          <p:cNvPr id="25" name="Text 16"/>
          <p:cNvSpPr/>
          <p:nvPr/>
        </p:nvSpPr>
        <p:spPr>
          <a:xfrm>
            <a:off x="5403270" y="1934170"/>
            <a:ext cx="3026355"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5F3FF"/>
                </a:solidFill>
                <a:latin typeface="Inter" pitchFamily="34" charset="0"/>
                <a:ea typeface="Inter" pitchFamily="34" charset="-122"/>
                <a:cs typeface="Inter" pitchFamily="34" charset="-120"/>
              </a:rPr>
              <a:t>Mobile Application</a:t>
            </a:r>
            <a:endParaRPr lang="en-US" sz="885" dirty="0"/>
          </a:p>
        </p:txBody>
      </p:sp>
      <p:sp>
        <p:nvSpPr>
          <p:cNvPr id="26" name="Text 17"/>
          <p:cNvSpPr/>
          <p:nvPr/>
        </p:nvSpPr>
        <p:spPr>
          <a:xfrm>
            <a:off x="5403270" y="2157413"/>
            <a:ext cx="2955727"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Phát triển ứng dụng di động (React Native) dành riêng cho</a:t>
            </a:r>
            <a:endParaRPr lang="en-US" sz="780" dirty="0"/>
          </a:p>
        </p:txBody>
      </p:sp>
      <p:sp>
        <p:nvSpPr>
          <p:cNvPr id="27" name="Text 18"/>
          <p:cNvSpPr/>
          <p:nvPr/>
        </p:nvSpPr>
        <p:spPr>
          <a:xfrm>
            <a:off x="5403270" y="2307431"/>
            <a:ext cx="916186"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chủ trọ và cư dân.</a:t>
            </a:r>
            <a:endParaRPr lang="en-US" sz="780" dirty="0"/>
          </a:p>
        </p:txBody>
      </p:sp>
      <p:sp>
        <p:nvSpPr>
          <p:cNvPr id="28" name="Shape 19"/>
          <p:cNvSpPr/>
          <p:nvPr/>
        </p:nvSpPr>
        <p:spPr>
          <a:xfrm>
            <a:off x="5260395" y="2732484"/>
            <a:ext cx="3312105" cy="798314"/>
          </a:xfrm>
          <a:prstGeom prst="rect">
            <a:avLst/>
          </a:prstGeom>
          <a:solidFill>
            <a:srgbClr val="4F46E5">
              <a:alpha val="10000"/>
            </a:srgbClr>
          </a:solidFill>
          <a:ln/>
        </p:spPr>
      </p:sp>
      <p:sp>
        <p:nvSpPr>
          <p:cNvPr id="29" name="Shape 20"/>
          <p:cNvSpPr/>
          <p:nvPr/>
        </p:nvSpPr>
        <p:spPr>
          <a:xfrm>
            <a:off x="5260395" y="2732484"/>
            <a:ext cx="28575" cy="798314"/>
          </a:xfrm>
          <a:prstGeom prst="rect">
            <a:avLst/>
          </a:prstGeom>
          <a:solidFill>
            <a:srgbClr val="4F46E5"/>
          </a:solidFill>
          <a:ln/>
        </p:spPr>
      </p:sp>
      <p:sp>
        <p:nvSpPr>
          <p:cNvPr id="30" name="Text 21"/>
          <p:cNvSpPr/>
          <p:nvPr/>
        </p:nvSpPr>
        <p:spPr>
          <a:xfrm>
            <a:off x="5403270" y="2875359"/>
            <a:ext cx="3026355"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5F3FF"/>
                </a:solidFill>
                <a:latin typeface="Inter" pitchFamily="34" charset="0"/>
                <a:ea typeface="Inter" pitchFamily="34" charset="-122"/>
                <a:cs typeface="Inter" pitchFamily="34" charset="-120"/>
              </a:rPr>
              <a:t>Automation &amp; AI</a:t>
            </a:r>
            <a:endParaRPr lang="en-US" sz="885" dirty="0"/>
          </a:p>
        </p:txBody>
      </p:sp>
      <p:sp>
        <p:nvSpPr>
          <p:cNvPr id="31" name="Text 22"/>
          <p:cNvSpPr/>
          <p:nvPr/>
        </p:nvSpPr>
        <p:spPr>
          <a:xfrm>
            <a:off x="5403270" y="3098602"/>
            <a:ext cx="2886075"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Tự động gửi hóa đơn qua Zalo/Email và sử dụng AI để dự</a:t>
            </a:r>
            <a:endParaRPr lang="en-US" sz="780" dirty="0"/>
          </a:p>
        </p:txBody>
      </p:sp>
      <p:sp>
        <p:nvSpPr>
          <p:cNvPr id="32" name="Text 23"/>
          <p:cNvSpPr/>
          <p:nvPr/>
        </p:nvSpPr>
        <p:spPr>
          <a:xfrm>
            <a:off x="5403270" y="3248620"/>
            <a:ext cx="1644848"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báo doanh thu, tối ưu giá phòng.</a:t>
            </a:r>
            <a:endParaRPr lang="en-US" sz="780" dirty="0"/>
          </a:p>
        </p:txBody>
      </p:sp>
      <p:sp>
        <p:nvSpPr>
          <p:cNvPr id="33" name="Shape 24"/>
          <p:cNvSpPr/>
          <p:nvPr/>
        </p:nvSpPr>
        <p:spPr>
          <a:xfrm>
            <a:off x="5260395" y="3673673"/>
            <a:ext cx="3312105" cy="798314"/>
          </a:xfrm>
          <a:prstGeom prst="rect">
            <a:avLst/>
          </a:prstGeom>
          <a:solidFill>
            <a:srgbClr val="4F46E5">
              <a:alpha val="10000"/>
            </a:srgbClr>
          </a:solidFill>
          <a:ln/>
        </p:spPr>
      </p:sp>
      <p:sp>
        <p:nvSpPr>
          <p:cNvPr id="34" name="Shape 25"/>
          <p:cNvSpPr/>
          <p:nvPr/>
        </p:nvSpPr>
        <p:spPr>
          <a:xfrm>
            <a:off x="5260395" y="3673673"/>
            <a:ext cx="28575" cy="798314"/>
          </a:xfrm>
          <a:prstGeom prst="rect">
            <a:avLst/>
          </a:prstGeom>
          <a:solidFill>
            <a:srgbClr val="4F46E5"/>
          </a:solidFill>
          <a:ln/>
        </p:spPr>
      </p:sp>
      <p:sp>
        <p:nvSpPr>
          <p:cNvPr id="35" name="Text 26"/>
          <p:cNvSpPr/>
          <p:nvPr/>
        </p:nvSpPr>
        <p:spPr>
          <a:xfrm>
            <a:off x="5403270" y="3816548"/>
            <a:ext cx="3026355"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5F3FF"/>
                </a:solidFill>
                <a:latin typeface="Inter" pitchFamily="34" charset="0"/>
                <a:ea typeface="Inter" pitchFamily="34" charset="-122"/>
                <a:cs typeface="Inter" pitchFamily="34" charset="-120"/>
              </a:rPr>
              <a:t>Báo cáo BI nâng cao</a:t>
            </a:r>
            <a:endParaRPr lang="en-US" sz="885" dirty="0"/>
          </a:p>
        </p:txBody>
      </p:sp>
      <p:sp>
        <p:nvSpPr>
          <p:cNvPr id="36" name="Text 27"/>
          <p:cNvSpPr/>
          <p:nvPr/>
        </p:nvSpPr>
        <p:spPr>
          <a:xfrm>
            <a:off x="5403270" y="4039791"/>
            <a:ext cx="2519958"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Xây dựng hệ thống báo cáo thông minh (Business</a:t>
            </a:r>
            <a:endParaRPr lang="en-US" sz="780" dirty="0"/>
          </a:p>
        </p:txBody>
      </p:sp>
      <p:sp>
        <p:nvSpPr>
          <p:cNvPr id="37" name="Text 28"/>
          <p:cNvSpPr/>
          <p:nvPr/>
        </p:nvSpPr>
        <p:spPr>
          <a:xfrm>
            <a:off x="5403270" y="4189809"/>
            <a:ext cx="2357438" cy="128588"/>
          </a:xfrm>
          <a:prstGeom prst="rect">
            <a:avLst/>
          </a:prstGeom>
          <a:noFill/>
          <a:ln/>
        </p:spPr>
        <p:txBody>
          <a:bodyPr wrap="none" lIns="0" tIns="0" rIns="0" bIns="0" rtlCol="0" anchor="t">
            <a:spAutoFit/>
          </a:bodyPr>
          <a:lstStyle/>
          <a:p>
            <a:pPr algn="l" indent="0" marL="0">
              <a:lnSpc>
                <a:spcPts val="1200"/>
              </a:lnSpc>
              <a:buNone/>
            </a:pPr>
            <a:r>
              <a:rPr lang="en-US" sz="780" dirty="0">
                <a:solidFill>
                  <a:srgbClr val="D1D5DB"/>
                </a:solidFill>
                <a:latin typeface="Inter" pitchFamily="34" charset="0"/>
                <a:ea typeface="Inter" pitchFamily="34" charset="-122"/>
                <a:cs typeface="Inter" pitchFamily="34" charset="-120"/>
              </a:rPr>
              <a:t>Intelligence) chuyên sâu cho chuỗi nhà trọ lớn.</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2026-04-17T17:48:42Z</dcterms:created>
  <dcterms:modified xsi:type="dcterms:W3CDTF">2026-04-17T17:48:42Z</dcterms:modified>
</cp:coreProperties>
</file>